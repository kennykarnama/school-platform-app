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21b6a0f6c646b5" /><Relationship Type="http://schemas.openxmlformats.org/officeDocument/2006/relationships/extended-properties" Target="/docProps/app.xml" Id="R62eb972647954ddc" /><Relationship Type="http://schemas.openxmlformats.org/officeDocument/2006/relationships/officeDocument" Target="/ppt/presentation.xml" Id="R35426bb74ef24f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2a2f3eaecc4c9d"/>
  </p:sldMasterIdLst>
  <p:notesMasterIdLst>
    <p:notesMasterId xmlns:r="http://schemas.openxmlformats.org/officeDocument/2006/relationships" r:id="Rda13893f0c534d13"/>
  </p:notesMasterIdLst>
  <p:sldIdLst>
    <p:sldId xmlns:r="http://schemas.openxmlformats.org/officeDocument/2006/relationships" id="256" r:id="R1aa00a1d66304924"/>
    <p:sldId xmlns:r="http://schemas.openxmlformats.org/officeDocument/2006/relationships" id="257" r:id="R0e9976ae1e17494f"/>
    <p:sldId xmlns:r="http://schemas.openxmlformats.org/officeDocument/2006/relationships" id="258" r:id="R6fa322b3df374ed7"/>
    <p:sldId xmlns:r="http://schemas.openxmlformats.org/officeDocument/2006/relationships" id="259" r:id="R4e0625b265e7413e"/>
    <p:sldId xmlns:r="http://schemas.openxmlformats.org/officeDocument/2006/relationships" id="260" r:id="Rc85120f752204d53"/>
    <p:sldId xmlns:r="http://schemas.openxmlformats.org/officeDocument/2006/relationships" id="261" r:id="Rd77c9cb472234bc3"/>
    <p:sldId xmlns:r="http://schemas.openxmlformats.org/officeDocument/2006/relationships" id="262" r:id="R2e71db6e9f28477d"/>
    <p:sldId xmlns:r="http://schemas.openxmlformats.org/officeDocument/2006/relationships" id="263" r:id="R5b9e273c19ae47a0"/>
    <p:sldId xmlns:r="http://schemas.openxmlformats.org/officeDocument/2006/relationships" id="264" r:id="Rd6af79469ae942ad"/>
    <p:sldId xmlns:r="http://schemas.openxmlformats.org/officeDocument/2006/relationships" id="265" r:id="Re30243d1629b431b"/>
    <p:sldId xmlns:r="http://schemas.openxmlformats.org/officeDocument/2006/relationships" id="266" r:id="R5f93564dfc3e4e01"/>
    <p:sldId xmlns:r="http://schemas.openxmlformats.org/officeDocument/2006/relationships" id="267" r:id="R96297c247c6348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3216f7eb5d4d25" /><Relationship Type="http://schemas.openxmlformats.org/officeDocument/2006/relationships/slideMaster" Target="/ppt/slideMasters/slideMaster1.xml" Id="R342a2f3eaecc4c9d" /><Relationship Type="http://schemas.openxmlformats.org/officeDocument/2006/relationships/notesMaster" Target="/ppt/notesMasters/notesMaster1.xml" Id="Rda13893f0c534d13" /><Relationship Type="http://schemas.openxmlformats.org/officeDocument/2006/relationships/presProps" Target="/ppt/presProps.xml" Id="R404a7615dd8d4df9" /><Relationship Type="http://schemas.openxmlformats.org/officeDocument/2006/relationships/tableStyles" Target="/ppt/tableStyles.xml" Id="R5211163fb0c94adc" /><Relationship Type="http://schemas.openxmlformats.org/officeDocument/2006/relationships/slide" Target="/ppt/slides/slide1.xml" Id="R1aa00a1d66304924" /><Relationship Type="http://schemas.openxmlformats.org/officeDocument/2006/relationships/slide" Target="/ppt/slides/slide2.xml" Id="R0e9976ae1e17494f" /><Relationship Type="http://schemas.openxmlformats.org/officeDocument/2006/relationships/slide" Target="/ppt/slides/slide3.xml" Id="R6fa322b3df374ed7" /><Relationship Type="http://schemas.openxmlformats.org/officeDocument/2006/relationships/slide" Target="/ppt/slides/slide4.xml" Id="R4e0625b265e7413e" /><Relationship Type="http://schemas.openxmlformats.org/officeDocument/2006/relationships/slide" Target="/ppt/slides/slide5.xml" Id="Rc85120f752204d53" /><Relationship Type="http://schemas.openxmlformats.org/officeDocument/2006/relationships/slide" Target="/ppt/slides/slide6.xml" Id="Rd77c9cb472234bc3" /><Relationship Type="http://schemas.openxmlformats.org/officeDocument/2006/relationships/slide" Target="/ppt/slides/slide7.xml" Id="R2e71db6e9f28477d" /><Relationship Type="http://schemas.openxmlformats.org/officeDocument/2006/relationships/slide" Target="/ppt/slides/slide8.xml" Id="R5b9e273c19ae47a0" /><Relationship Type="http://schemas.openxmlformats.org/officeDocument/2006/relationships/slide" Target="/ppt/slides/slide9.xml" Id="Rd6af79469ae942ad" /><Relationship Type="http://schemas.openxmlformats.org/officeDocument/2006/relationships/slide" Target="/ppt/slides/slide10.xml" Id="Re30243d1629b431b" /><Relationship Type="http://schemas.openxmlformats.org/officeDocument/2006/relationships/slide" Target="/ppt/slides/slide11.xml" Id="R5f93564dfc3e4e01" /><Relationship Type="http://schemas.openxmlformats.org/officeDocument/2006/relationships/slide" Target="/ppt/slides/slide12.xml" Id="R96297c247c6348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94c249173a44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790668eef246e3" /><Relationship Type="http://schemas.openxmlformats.org/officeDocument/2006/relationships/notesMaster" Target="/ppt/notesMasters/notesMaster1.xml" Id="R31ca7afcd7bc4c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babd464fa7463d" /><Relationship Type="http://schemas.openxmlformats.org/officeDocument/2006/relationships/notesMaster" Target="/ppt/notesMasters/notesMaster1.xml" Id="Ra4b647c6e2104a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7be1e0a7734623" /><Relationship Type="http://schemas.openxmlformats.org/officeDocument/2006/relationships/notesMaster" Target="/ppt/notesMasters/notesMaster1.xml" Id="Rbe9ad1cd6e9f4d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ed8cb945be4d7e" /><Relationship Type="http://schemas.openxmlformats.org/officeDocument/2006/relationships/notesMaster" Target="/ppt/notesMasters/notesMaster1.xml" Id="R1eba932abda145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79848c8d0a41bd" /><Relationship Type="http://schemas.openxmlformats.org/officeDocument/2006/relationships/notesMaster" Target="/ppt/notesMasters/notesMaster1.xml" Id="R28850bb69c6749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35ecbff7684218" /><Relationship Type="http://schemas.openxmlformats.org/officeDocument/2006/relationships/notesMaster" Target="/ppt/notesMasters/notesMaster1.xml" Id="Rc945fc7930ed4d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3555de6c674ba9" /><Relationship Type="http://schemas.openxmlformats.org/officeDocument/2006/relationships/notesMaster" Target="/ppt/notesMasters/notesMaster1.xml" Id="R2460234604344d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a1c5e910594ed3" /><Relationship Type="http://schemas.openxmlformats.org/officeDocument/2006/relationships/notesMaster" Target="/ppt/notesMasters/notesMaster1.xml" Id="R8472c34d66ad4e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5d521d0fc74101" /><Relationship Type="http://schemas.openxmlformats.org/officeDocument/2006/relationships/notesMaster" Target="/ppt/notesMasters/notesMaster1.xml" Id="Rb57851f588cb4b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40f9d4f4ef4e06" /><Relationship Type="http://schemas.openxmlformats.org/officeDocument/2006/relationships/notesMaster" Target="/ppt/notesMasters/notesMaster1.xml" Id="Rb50f224793a445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ca2f543e0b4453" /><Relationship Type="http://schemas.openxmlformats.org/officeDocument/2006/relationships/notesMaster" Target="/ppt/notesMasters/notesMaster1.xml" Id="R00e95afd6de64b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7cb67fd5fa24cf0" /><Relationship Type="http://schemas.openxmlformats.org/officeDocument/2006/relationships/notesMaster" Target="/ppt/notesMasters/notesMaster1.xml" Id="R01d0a7ff00af47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the application helps teachers maintain class records, enter attendance, and review reports through one workflow. Keep the session focused on daily teaching tasks rather than technical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apps/school-administration-ui/src/components/includes/aside-menu/aside-menu.riot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yourself briefly. Mention your current position as Technical Lead at PT Bank Sinarmas Tbk, your backend and platform background, and your education-technology experience at Ruangguru. Then connect your experience to the practical needs of this project.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/Users/kennykarnama/Documents/Kenny_Karnama_CV_2026_updated.pdf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personal purpose behind the application. It is intended as a social contribution to the education sector. It also gives you a real project through which to strengthen your preparation for a future master's degree in Machine Learning. Invite teachers to shape the platform through practical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purpose, 2026-09-05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explanation high-level. Cloud DNS maps the school domain to the VM's external IP. Nginx terminates HTTPS and forwards browser traffic to the UI. The application stack runs in Docker Compose on a small GCP Spot VM. The administration and user APIs connect to separate CockroachDB Cloud databases.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deployment description, 2026-09-05</a:t>
            </a:r>
          </a:p>
          <a:p xmlns:a="http://schemas.openxmlformats.org/drawingml/2006/main">
            <a:r>
              <a:t>- deploy/compose.yaml</a:t>
            </a:r>
          </a:p>
          <a:p xmlns:a="http://schemas.openxmlformats.org/drawingml/2006/main">
            <a:r>
              <a:t>- deploy/README.md</a:t>
            </a:r>
          </a:p>
          <a:p xmlns:a="http://schemas.openxmlformats.org/drawingml/2006/main">
            <a:r>
              <a:t>- deploy/proxy/README.md</a:t>
            </a:r>
          </a:p>
          <a:p xmlns:a="http://schemas.openxmlformats.org/drawingml/2006/main">
            <a:r>
              <a:t>- deploy/proxy/templates/school.conf.template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these three parts to a teacher's routine. The process begins with clean records, continues with daily attendance, and ends with reports that teachers can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apps/school-administration-ui/src/components/global/app-content/app-content.riot</a:t>
            </a:r>
          </a:p>
          <a:p xmlns:a="http://schemas.openxmlformats.org/drawingml/2006/main">
            <a:r>
              <a:t>- apps/school-administration-ui/src/components/includes/pages/absensi/rekap/rekap.riot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workflow as the map for the session. After signing in, show Initial Data first. Continue to Attendance Entry, then Reports. Show the Class Summary if time allows.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apps/school-administration-ui/src/components/includes/aside-menu/aside-menu.riot</a:t>
            </a:r>
          </a:p>
          <a:p xmlns:a="http://schemas.openxmlformats.org/drawingml/2006/main">
            <a:r>
              <a:t>- apps/school-administration-ui/src/components/global/app-content/app-content.riot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Initial Data is not a daily task. Schools usually prepare it at the beginning of a semester or when class assignments change. Show the Add, Download Excel Template, and Import Excel/CSV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apps/school-administration-ui/src/components/includes/pages/setup/setup.riot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that teachers can review create, update, unchanged, and error results before applying records. The Apply Data button becomes available only after the preview is valid.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apps/school-administration-ui/src/components/includes/pages/setup/setup.riot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During the demo, select the academic year, class, and date. Search to load the students. Explain how this order helps prevent entries under the wrong class or 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apps/school-administration-ui/src/components/includes/pages/absensi/absensi-input/absensi-input.riot</a:t>
            </a:r>
          </a:p>
          <a:p xmlns:a="http://schemas.openxmlformats.org/drawingml/2006/main">
            <a:r>
              <a:t>- apps/school-administration-ui/src/components/includes/pages/absensi/absensi-table/absensi-table.riot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date-range filters on the Reports page. After the results appear, point out the table and download control. Open the Class Summary if time allows.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apps/school-administration-ui/src/components/includes/pages/absensi/rekap/rekap.riot</a:t>
            </a:r>
          </a:p>
          <a:p xmlns:a="http://schemas.openxmlformats.org/drawingml/2006/main">
            <a:r>
              <a:t>- apps/school-administration-ui/src/components/includes/pages/absensi/rekap/rekap-klasikal.riot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demonstration takes about five minutes. Use the local development account and sample records. Do not display or change production data during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apps/school-administration-ui/src/components/includes/pages/login/login.riot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proposing a limited trial. Ask teachers whether the workflow is clear, what slows them down, and which reports would help most.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apps/school-administration-ui/src/components/includes/pages/setup/setup.riot</a:t>
            </a:r>
          </a:p>
          <a:p xmlns:a="http://schemas.openxmlformats.org/drawingml/2006/main">
            <a:r>
              <a:t>- apps/school-administration-ui/src/components/includes/pages/absensi/rekap/rekap.riot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e4d6cae57b4d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0d517b8c364267" /><Relationship Type="http://schemas.openxmlformats.org/officeDocument/2006/relationships/slideLayout" Target="/ppt/slideLayouts/slideLayout1.xml" Id="R7ceb22bdcd3b43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eb22bdcd3b43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f85cddba143f4" /><Relationship Type="http://schemas.openxmlformats.org/officeDocument/2006/relationships/notesSlide" Target="/ppt/notesSlides/notesSlide1.xml" Id="R942238a7608c4b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1cc34f5d64087" /><Relationship Type="http://schemas.openxmlformats.org/officeDocument/2006/relationships/notesSlide" Target="/ppt/notesSlides/notesSlide2.xml" Id="R730eb37c2ec741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5d961feaa45e5" /><Relationship Type="http://schemas.openxmlformats.org/officeDocument/2006/relationships/notesSlide" Target="/ppt/notesSlides/notesSlide3.xml" Id="R2ec5af6c640646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7c51013d246d7" /><Relationship Type="http://schemas.openxmlformats.org/officeDocument/2006/relationships/notesSlide" Target="/ppt/notesSlides/notesSlide4.xml" Id="R3fac890cfede40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db3b996104e29" /><Relationship Type="http://schemas.openxmlformats.org/officeDocument/2006/relationships/notesSlide" Target="/ppt/notesSlides/notesSlide5.xml" Id="Rd72714ab840b48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6d8c0818f4264" /><Relationship Type="http://schemas.openxmlformats.org/officeDocument/2006/relationships/notesSlide" Target="/ppt/notesSlides/notesSlide6.xml" Id="Rcb90eeabbb2845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7c22ae88d46d2" /><Relationship Type="http://schemas.openxmlformats.org/officeDocument/2006/relationships/notesSlide" Target="/ppt/notesSlides/notesSlide7.xml" Id="Redad5a45a5bd41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5785b02144ff9" /><Relationship Type="http://schemas.openxmlformats.org/officeDocument/2006/relationships/notesSlide" Target="/ppt/notesSlides/notesSlide8.xml" Id="Rbe02a33e027943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0398df3394c40" /><Relationship Type="http://schemas.openxmlformats.org/officeDocument/2006/relationships/notesSlide" Target="/ppt/notesSlides/notesSlide9.xml" Id="R6b4e94a77beb4f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098ccb2a94a2e" /><Relationship Type="http://schemas.openxmlformats.org/officeDocument/2006/relationships/notesSlide" Target="/ppt/notesSlides/notesSlide10.xml" Id="Rd9d9b41a24e94a0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9a7b9929c4610" /><Relationship Type="http://schemas.openxmlformats.org/officeDocument/2006/relationships/notesSlide" Target="/ppt/notesSlides/notesSlide11.xml" Id="R5cd47b1b7647449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cf49175c34bfb" /><Relationship Type="http://schemas.openxmlformats.org/officeDocument/2006/relationships/notesSlide" Target="/ppt/notesSlides/notesSlide12.xml" Id="R7e41947bd8e94b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7CE9E-09E1-417A-9078-F69E8648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55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36A22-BCDE-420D-AA03-AC998471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8001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School Administration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C23661-70DB-413B-950A-6F85957B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Attendance and class records for everyday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85CC3-763F-4084-89FC-8961DBD1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638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7556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AE3ED-5A6E-41FA-A82B-E80D746F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rPr>
              <a:t>Introduction for teachers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D8DA7-333F-41F9-BB52-06FB6594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2E8F0"/>
                </a:solidFill>
                <a:latin typeface="Helvetica Neue"/>
                <a:ea typeface="Helvetica Neue"/>
                <a:cs typeface="Helvetica Neue"/>
              </a:rPr>
              <a:t>Initial Data   /   Attendance Entry   /   Reports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63B3D-4CE4-42BD-B491-FD858E1F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150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2838238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0C66BC-C27C-46DA-AD77-2678B180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YOUR PRESENTER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511AB5-5C49-4331-ABBC-878006E6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Kenny Karnama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48DDA-78D4-402F-9DF7-A3C7A651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047850-1068-44FE-BE3A-73E7E33C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Technical Lead at PT Bank Sinarmas Tbk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A49F6-8716-4A09-A224-EEF28B02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Senior Software Engineer focused on backend platforms, distributed systems, workflow engines, and data processing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05183-E3DB-49BD-8648-B61B60A1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1285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8+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B5237-F988-431B-8048-F4ED5E12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years in software 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63C388-4E0C-49B7-B539-F0672917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19450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957233-09D9-4334-8AF1-AF2B305F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33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Education technology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544392-88B1-45FD-9CD4-F4B90E6E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338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Built high-throughput content, streaming, and live quiz services at Ruangguru.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450595-4676-43DA-9F1C-82D299A9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19450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FA44B5-7EA3-4DE7-88CB-C32AF4AD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Platform engineering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4FC1DB-47FC-4EB8-B2E6-75B66081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3380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Hands-on experience with GCP, Docker, Kubernetes, API design, and CockroachDB.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57F10F-2756-49CB-B98D-D441ABC3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1036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72DA8B-E880-4C1F-A95A-DC1ECCFD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7212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Today: a practical walkthrough of the platform, followed by teacher feedback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DCF2EC-AA26-4332-874D-48CF2F5E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ADMINISTRATION PLATFORM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72481A-0888-425A-8604-96884769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530965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CAE7F1-35FB-40F1-B2B4-82F441D3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PROJECT PURPOSE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8F3CB-7922-4DDC-87D0-183DC7AF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 practical contribution to education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FF419-6E42-4808-9F08-75A975E7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DD59E2-37AA-42F9-9808-453DF57B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81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BBD99-3D26-44A7-9107-9FE6784A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0764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Support the education sector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0CB98-746E-4F95-B0A4-3BF39F33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09850"/>
            <a:ext cx="4095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The application is a social contribution that gives teachers a practical way to manage class records, attendance, and 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22396-F4F2-4219-AB8F-FC9427E8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0" cy="2533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473A0-33FC-4297-9C5B-CB9A3E34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81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CF8D9-4234-4F91-B6A9-DB228DF7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764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Prepare for graduate study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280C98-1F04-4957-9085-88794D96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09850"/>
            <a:ext cx="3524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Building a real platform complements my preparation for a master's degree in Machine Learning by strengthening the engineering foundation around data and reliable systems.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62634-FA02-47B4-81C5-84ABE07B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942E7D-7771-415A-8CFE-536D1E5F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43500"/>
            <a:ext cx="922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Teacher feedback guides the platform while the project connects professional experience, social contribution, and future study.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ED2B74-7753-4D7D-A700-8E7CC928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ADMINISTRATION PLATFORM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B996D-F410-446B-99A9-856EA180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406959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A05D6C-40C7-4331-8EC4-EEE01567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HIGH-LEVEL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EBDC2-AEFF-4063-A3E3-B03745A1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 compact cloud architecture for the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8B052-6AF2-48C5-B95A-F2E696F0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0EFD0-0320-4ABA-BC27-84E2E4E2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3855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1E10C-1005-4292-A9E0-9CF9F708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3855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0F4652-63A8-4A88-8694-50767769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3855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F29ED9-0A31-466A-85F4-926AAAC5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1432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domain lookup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ED5E2-EBC9-412A-93EA-F4169E17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432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HTTPS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6E20B-1BC8-456A-92ED-6A3CC1C5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432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DB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5C2E7B-3799-47FA-817D-5043B703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428750" cy="15621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B4C366-949B-47AC-950C-578F5B04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95650"/>
            <a:ext cx="1085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Teachers and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school staff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E350F0-FE9E-4BEB-A3A7-3E3B41D0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857500"/>
            <a:ext cx="16192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7FCECC-86BA-45C6-8EFC-61EF9AD6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575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Cloud DNS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E61C2D-CB8E-4B92-A396-5802C32D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338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domain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58CA3F-3791-4FE2-898C-FFE90FEF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19300"/>
            <a:ext cx="4191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2E0F6A-DA4F-482D-BDE9-941DF3F4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28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GCP Spot VM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C559DD-0C0D-4B03-B42A-7E4248A4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908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2 vCPU / 1 GB RAM / 20 GB standard disk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86A34-B4CC-4EFB-9171-4F7DC412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048000"/>
            <a:ext cx="3524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4088B5-B61C-48A0-A2D0-9235F6EC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194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Nginx reverse proxy and TLS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09C3BD-57FE-4012-B79C-A17C4AE5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848100"/>
            <a:ext cx="3524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17DBD1-C4E8-4FA3-B328-64A66086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000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Docker Compose application stack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B77DA9-675B-4C32-A79E-A441F075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81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School UI</a:t>
            </a:r>
          </a:p>
          <a:p xmlns:a="http://schemas.openxmlformats.org/drawingml/2006/main">
            <a:pPr algn="ctr">
              <a:defRPr sz="12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Administration API and User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6FFA91-59CC-4A44-BB37-D3C1C83A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705100"/>
            <a:ext cx="1857375" cy="186690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8B5057-A025-4E39-99EE-819A2EA4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480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CockroachDB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Cloud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186FC2-3A17-4830-9A94-94D318C5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290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school_administration</a:t>
            </a:r>
          </a:p>
          <a:p xmlns:a="http://schemas.openxmlformats.org/drawingml/2006/main">
            <a:pPr algn="ctr">
              <a:defRPr sz="10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school_user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F2D655-AF6A-4C00-B30E-57DDCCCB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Cloud DNS resolves the domain. Nginx receives HTTPS traffic and routes it to the application containers. The APIs connect to CockroachDB Cloud.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D407CC-C004-4FCB-9B6C-273B7D20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ADMINISTRATION PLATFORM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8067BE-E3F0-44D9-AB61-184C1230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211571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143AD3-79CA-4091-85EE-329F9B9A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WHY THIS APPLICATION HELPS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5EBB0-48CE-43DB-947A-D47D9589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One workflow for classroom administration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BBCB2-E97B-4F5A-8482-787398F2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2A98E-D68D-47CD-81E3-DEE133EF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94D47-38C0-4E63-8EF7-CE3A6CE1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9431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Prepare class records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FD073-C622-44E4-A8B3-38099B22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8125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Academic years, attendance types, students, and class assignments become the starting records.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CC9C7-3679-4C24-9AEC-1AE1397A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34BAE4-6881-4D96-BB9F-755BBB39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BD0A1-23FE-480B-BD9A-CD1F23C0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4099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Record attendance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C6CBEB-0EA7-4D07-BADC-213DFD59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84810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Teachers select the academic year, class, and date before opening the student list.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43FC77-C639-47E4-9805-3C04EB4C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7A1486-CEC4-4886-98A8-759FFAAE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B9EAB2-11FB-4A44-8796-CFDE54D2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768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Review and share reports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13B197-DAB3-42B0-895D-A37C3AFC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1495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Reports can be filtered by period and class, then exported for follow-up 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B730FE-826A-4D69-8A4A-DF3C2855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ADMINISTRATION PLATFORM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FDD8F-6069-4BB9-81D6-61934DCF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853015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A79765-9871-4FD9-BAA0-1AA10CAC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NAVIGATION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44CF4-2C67-4BCC-B27D-2089619D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Main application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76AC1-C7A9-49A4-AD43-7F6B7D91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52CD0B-3F2E-4F62-B5D9-16466950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33375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8E2AB-D6CC-47F4-96F5-C258799C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81250"/>
            <a:ext cx="2047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BFDD3-2F08-4756-A6A4-59554604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571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811366-167F-475D-9E4B-BDBD7B5A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1432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Sign 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50FC5-1D0C-4E7B-AB36-BF57FE5D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6385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Use a teacher account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D6B4E-0DA2-45A8-B833-734574F1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2047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92300-1C5E-4C66-BC47-D89314DC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71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42FA09-B34A-4376-B7C5-46717D2E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432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Initial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FEB7B1-C0CE-4EDA-A810-6ECAEB28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385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Prepare class records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2FA7C6-BA07-4F5D-AA38-AB639908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81250"/>
            <a:ext cx="2047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DB109E-543B-4DA8-974A-8C45F564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571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208884-1261-41E1-8396-E2D3932B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1432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Attendance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C48A13-298F-468A-BA3C-D12FA0B0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6385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Choose a class and 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1E6EE1-DC04-44B1-962F-CDCFD1DC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2047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6A3EB0-F983-4CA0-8916-4EE9CD93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71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6307D9-3A44-4B48-A937-1C34C38F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432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Reports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138C9B-1234-4EAB-9E44-980EC8EC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385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Review and export results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4250A6-34B7-41CD-92FE-F0C4F574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149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The teacher menu also includes Home, Class Summary, About, and Sign Out.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8BA49F-31F6-4B0B-A4B5-DB538F6F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ADMINISTRATION PLATFORM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10B30C-F8A9-4F02-A50A-0785A058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85653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456B53-AD0F-4AEF-87FA-65E4C729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FC28AF-2E42-48AB-8D8D-9AE62F25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Initial Data provides the foundation for attendance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50E0C-1C01-40D0-A393-34D50533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F6DEC-06AA-406E-947A-57478B11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Four record types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77CFC-38B6-4EBB-9D00-4FDEB775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58B33-B809-4927-A964-B66ECDBC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62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Academic year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BBF81-4A69-4296-AA5E-5CFCA844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241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Example: 2026/2027 - Semester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884ED6-51EB-4304-865E-A661EB02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5EEEF4-0196-4E6E-9B28-A1E343E3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38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Attendance types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4CFE4-1AC2-4E9B-ADF6-810F6883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004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Labels and colors for reports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A52B1-1F08-4AEB-8CCE-940EE878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1201A9-6042-4931-8CF8-0F07DC01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14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Students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B4EDE1-2FA8-4FE8-9E9A-FC04C02C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76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Alternative ID and name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D99405-55CE-4CE1-B000-7B8E30C1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BA7DCF-F2FF-455E-9DDD-7A7AD89D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91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Class assignments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18938A-06B9-48AD-8FFD-4FDBEB17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530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One active class per academic year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2D77A7-8939-48C6-8704-D71F8EDF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81200"/>
            <a:ext cx="4476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6BE4F1-42A0-4386-B78F-089AAA29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241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Ways to enter student records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BE5707-9D28-4B54-8EF8-734C3737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099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Direct entry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1EF1BB-C6FD-444C-9AD1-3709D520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528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Best for adding or changing a small number of records.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90687D-C98B-40AA-9F10-4690F9EA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005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674875-D849-4D1B-BAAC-B2FE9D1A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053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Excel or CSV import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1CD32A-B5BE-43DE-B875-2C9F4EAE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482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Best for larger student lists. An Excel template is available in the application.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86DC04-8ADC-4ABB-A6B8-BF6B1446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ADMINISTRATION PLATFORM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26402D-F753-4A7B-9CED-96892BC4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744247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705E6-2284-48C7-BF5E-5C93F411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DATA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909CE-FEEA-4E90-A793-E1692EBE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Preview reduces unintended record changes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A8FAB-9270-450E-8503-C2B64A25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800100" y="2076450"/>
          <a:ext xmlns:a="http://schemas.openxmlformats.org/drawingml/2006/main" cx="10572750" cy="3048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524250"/>
                <a:gridCol w="3524250"/>
                <a:gridCol w="3524250"/>
              </a:tblGrid>
              <a:tr h="6096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to check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5755D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 Prepare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Complete the form or import a file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Column names and class records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5755D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 Validate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 Validate &amp; Preview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Create, update, unchanged, or error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5755D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 Correct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Fix any problem rows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 preview must be valid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5755D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 Apply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Confirm Apply 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Other records remain in place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396AF-B096-4318-86D8-B66A00EF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Import limit: 5,000 rows per operation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1FF74-F859-4D97-B3C4-5F793591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10200"/>
            <a:ext cx="489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Omitted records are not deleted.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BE68A-E1E8-4CF4-B986-9DE9DC29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ADMINISTRATION 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D6A05-1ECE-4B59-90B2-D0CC527C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62983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AFD582-3A0A-4A70-B61C-D7206022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DAILY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A9799-0593-46DD-87BA-F1B7118A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Attendance entry starts with the correct class and 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2250B-445D-4C50-B35B-6E047FDD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83AF4-6556-4633-B1B6-4DE13DD6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991085-2095-45E1-A094-91287B0A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ACADEMIC YEAR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8CC0D-C7F1-4244-B12F-5C92DE91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2026/2027 - Semester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6043E-1DC1-46B2-9A08-8069C806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CLASS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89D77-C3A5-4272-B436-3B645730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00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CLASS I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9CF7F9-2C1E-4CB6-B748-A27D037E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95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F0DDA-D351-43C3-BE46-DB514872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00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2026-08-26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76BFDD-2A25-4134-9579-A7EDB80F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The student list appears after 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74366A-78E7-4E03-8611-B10C548E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30732-5E7B-4930-B4D6-8D18D011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814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Confirm the academic year and class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8C4C85-2B38-485D-ABE1-D2D9689F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502FE1-90C6-4C02-81E6-1A40BE77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529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Check the date before recording a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483B21-4C72-4B08-8FB3-4B34F49B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6859ED-A953-46E5-8098-115F09B9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244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Save and check the success message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5286CA-BC8E-409D-B4D3-2033D645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3429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598F0B-0375-4CC7-9F74-315F4A79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481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Safe practice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95B050-D81D-4E8A-A506-7A5D2376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6245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State the class and date when reviewing attendance with another teacher.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44C63D-649F-4CF8-BAEF-BD9438C6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ADMINISTRATION PLATFORM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98CE57-7E65-46B0-8381-DB2F9939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757420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ECF50E-D929-4112-9628-AF4A7E00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MONITORING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BD4508-605D-414F-A74B-27641B81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Reports turn daily entries into class information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96888-1381-4A1C-AB7A-B33F6EBF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29A3A-F98F-489F-BC92-5F88CE17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Available filters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895F8-6434-4951-B934-F0D3A259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3429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Academic year</a:t>
            </a:r>
          </a:p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Class</a:t>
            </a:r>
          </a:p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Start and end dates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16487-FFDC-4555-97F9-4C356D5F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4310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AC974-6988-4DF0-A143-775E469C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431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Useful results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AF573-D652-4042-B78E-9D89C04F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76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Student report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C2FFEB-B0D9-41B0-8FCE-19640D84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Review attendance status across the selected date range.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0274C4-C9A4-4CED-B617-A6FB8D45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38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Excel export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6561A2-908A-43C9-8E66-31B1D29C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195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Use the data for administration or further reporting.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9A8B42-93BD-41B1-9BA6-70337FA8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006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Class Summary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938EFD-E32A-455C-8D17-958788E7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816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Review class attendance in a separate summary 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E7E9E-D8FD-48B7-9B0A-5BFEB359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ADMINISTRATION PLATFORM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4F5C5D-3AC8-474E-8855-4DCBB276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508089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9CA90B-897E-4FF3-A174-92A4BE62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Short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5D4D6-46A3-42F4-A168-8B487C0D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5B4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5B4FC"/>
                </a:solidFill>
                <a:latin typeface="Helvetica Neue"/>
                <a:ea typeface="Helvetica Neue"/>
                <a:cs typeface="Helvetica Neue"/>
              </a:rPr>
              <a:t>One class, one date, one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32428-0C0F-4E92-907C-1B6C06F5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4F08D-D5BA-4E55-9730-54113A0D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002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Sign in as a teacher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B3A19-6A5C-4312-AE43-0389B696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19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Show the profile and main menu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91894-8730-4248-AEF9-BF132007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DD014-4801-471A-971E-F4B9676B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0E375-292D-4299-BE0F-6D244F4D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9527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Open Initial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AC0B88-D732-4B6D-9485-EE4A8F88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718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Show students and class assignments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DA6F92-6BBF-4300-8E53-36088B12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797EF-8B76-4F24-9409-129BE14C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04E4EF-D58C-49CF-9B72-ADF29CAC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052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Enter attendance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DD2178-F4DA-4E40-82AA-FCAA09F0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24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Select a class and date, then save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D19605-C9F6-4617-A5C2-3BE4C6A8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C39DD1-3EA3-46D3-BECC-CEC64174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6EF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86EFA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615C72-5FE7-4F86-932F-650F42B2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577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Open Reports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380FBA-31D5-4669-9A1E-BEAA20F9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768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Filter the period and download results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F14676-B031-4CFA-A72E-3A4CE025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DE6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DE68A"/>
                </a:solidFill>
                <a:latin typeface="Helvetica Neue"/>
                <a:ea typeface="Helvetica Neue"/>
                <a:cs typeface="Helvetica Neue"/>
              </a:rPr>
              <a:t>Use sample records. Avoid changing school data that is currently in use.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3F6F11-D878-4756-81BE-B7DF6CF3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637075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C2027A-DA65-49C1-AD40-36FAA4BE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D4720-C793-46CF-BC6A-E8BACF5D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Start with one class for one week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DC1EA-62D1-4697-8013-FDFCA4A4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8868D1-5FF5-4474-81D5-59193B8B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06DB9-AF26-4ABB-A936-2A9620AF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002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Confirm the Initial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C5138-271D-4FDD-93BF-719A260F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193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Review the academic year, attendance types, and student list.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499C8-BAFF-4A43-ABCB-A1B68AEB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A241B2-0B74-4B6B-A988-5D852387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FC5EA-8450-41B9-8F70-4F09A0A4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909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Use attendance during a real class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ED3C6-7E36-4594-96A0-A33F8B58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100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Note any problems that appear while the class is in progress.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2D4AA0-54E1-47A2-975D-310BD54F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72C742-D7B6-45DB-B108-C71083AC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A84757-BB44-49BE-971F-48754497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815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Review the report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919262-E179-4546-AA8B-D3D96497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006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Agree on workflow changes before expanding 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C421F7-A039-4930-B522-A343ACDC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24050"/>
            <a:ext cx="1809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55D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3CCB99-E807-453D-84C0-FAA2C6A5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860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Discussion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841213-788F-4A26-AE79-409293B4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52750"/>
            <a:ext cx="133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Is the workflow clear?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What causes delays?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Which reports matter most?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2AC9A6-40A0-471C-874D-92AF4794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ADMINISTRATION PLATFORM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624414-BBC2-4B65-8447-97320707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151104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2026-09-05T02:28:18.5520000Z</dcterms:created>
  <dcterms:modified xsi:type="dcterms:W3CDTF">2026-09-05T02:28:18.5520000Z</dcterms:modified>
</coreProperties>
</file>