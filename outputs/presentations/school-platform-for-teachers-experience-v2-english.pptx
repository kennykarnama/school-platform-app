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48c9aee9814278" /><Relationship Type="http://schemas.openxmlformats.org/officeDocument/2006/relationships/extended-properties" Target="/docProps/app.xml" Id="R909196313a734aab" /><Relationship Type="http://schemas.openxmlformats.org/officeDocument/2006/relationships/officeDocument" Target="/ppt/presentation.xml" Id="R449411e240cc4464" /></Relationships>
</file>

<file path=ppt/presentation.xml><?xml version="1.0" encoding="utf-8"?>
<p:presentation xmlns:p="http://schemas.openxmlformats.org/presentationml/2006/main">
  <p:sldMasterIdLst>
    <p:sldMasterId xmlns:r="http://schemas.openxmlformats.org/officeDocument/2006/relationships" id="2147483648" r:id="R28f7c14effee4bad"/>
  </p:sldMasterIdLst>
  <p:notesMasterIdLst>
    <p:notesMasterId xmlns:r="http://schemas.openxmlformats.org/officeDocument/2006/relationships" r:id="R372278c3788b4218"/>
  </p:notesMasterIdLst>
  <p:sldIdLst>
    <p:sldId xmlns:r="http://schemas.openxmlformats.org/officeDocument/2006/relationships" id="256" r:id="Rb805ed63d7ff4264"/>
    <p:sldId xmlns:r="http://schemas.openxmlformats.org/officeDocument/2006/relationships" id="257" r:id="R7a7ae0ba04634ef8"/>
    <p:sldId xmlns:r="http://schemas.openxmlformats.org/officeDocument/2006/relationships" id="258" r:id="Re5f98b57079f40e3"/>
    <p:sldId xmlns:r="http://schemas.openxmlformats.org/officeDocument/2006/relationships" id="259" r:id="R2ce655d5a9f24a90"/>
    <p:sldId xmlns:r="http://schemas.openxmlformats.org/officeDocument/2006/relationships" id="260" r:id="R3d95426a0002459c"/>
    <p:sldId xmlns:r="http://schemas.openxmlformats.org/officeDocument/2006/relationships" id="261" r:id="R6083d339c0224195"/>
    <p:sldId xmlns:r="http://schemas.openxmlformats.org/officeDocument/2006/relationships" id="262" r:id="R85bee19ef61c46bf"/>
    <p:sldId xmlns:r="http://schemas.openxmlformats.org/officeDocument/2006/relationships" id="263" r:id="R1b6cca850ef545a2"/>
    <p:sldId xmlns:r="http://schemas.openxmlformats.org/officeDocument/2006/relationships" id="264" r:id="R1ad7f6c7738348c9"/>
    <p:sldId xmlns:r="http://schemas.openxmlformats.org/officeDocument/2006/relationships" id="265" r:id="R968200351b134652"/>
    <p:sldId xmlns:r="http://schemas.openxmlformats.org/officeDocument/2006/relationships" id="266" r:id="R9c9f54d70fee4767"/>
    <p:sldId xmlns:r="http://schemas.openxmlformats.org/officeDocument/2006/relationships" id="267" r:id="R553e818eea5448cb"/>
    <p:sldId xmlns:r="http://schemas.openxmlformats.org/officeDocument/2006/relationships" id="268" r:id="R3a38e708662b44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d50c357f614924" /><Relationship Type="http://schemas.openxmlformats.org/officeDocument/2006/relationships/slideMaster" Target="/ppt/slideMasters/slideMaster1.xml" Id="R28f7c14effee4bad" /><Relationship Type="http://schemas.openxmlformats.org/officeDocument/2006/relationships/notesMaster" Target="/ppt/notesMasters/notesMaster1.xml" Id="R372278c3788b4218" /><Relationship Type="http://schemas.openxmlformats.org/officeDocument/2006/relationships/presProps" Target="/ppt/presProps.xml" Id="R176551f4d2b94d63" /><Relationship Type="http://schemas.openxmlformats.org/officeDocument/2006/relationships/tableStyles" Target="/ppt/tableStyles.xml" Id="Rdbb66c4e8ef1476a" /><Relationship Type="http://schemas.openxmlformats.org/officeDocument/2006/relationships/slide" Target="/ppt/slides/slide1.xml" Id="Rb805ed63d7ff4264" /><Relationship Type="http://schemas.openxmlformats.org/officeDocument/2006/relationships/slide" Target="/ppt/slides/slide2.xml" Id="R7a7ae0ba04634ef8" /><Relationship Type="http://schemas.openxmlformats.org/officeDocument/2006/relationships/slide" Target="/ppt/slides/slide3.xml" Id="Re5f98b57079f40e3" /><Relationship Type="http://schemas.openxmlformats.org/officeDocument/2006/relationships/slide" Target="/ppt/slides/slide4.xml" Id="R2ce655d5a9f24a90" /><Relationship Type="http://schemas.openxmlformats.org/officeDocument/2006/relationships/slide" Target="/ppt/slides/slide5.xml" Id="R3d95426a0002459c" /><Relationship Type="http://schemas.openxmlformats.org/officeDocument/2006/relationships/slide" Target="/ppt/slides/slide6.xml" Id="R6083d339c0224195" /><Relationship Type="http://schemas.openxmlformats.org/officeDocument/2006/relationships/slide" Target="/ppt/slides/slide7.xml" Id="R85bee19ef61c46bf" /><Relationship Type="http://schemas.openxmlformats.org/officeDocument/2006/relationships/slide" Target="/ppt/slides/slide8.xml" Id="R1b6cca850ef545a2" /><Relationship Type="http://schemas.openxmlformats.org/officeDocument/2006/relationships/slide" Target="/ppt/slides/slide9.xml" Id="R1ad7f6c7738348c9" /><Relationship Type="http://schemas.openxmlformats.org/officeDocument/2006/relationships/slide" Target="/ppt/slides/slide10.xml" Id="R968200351b134652" /><Relationship Type="http://schemas.openxmlformats.org/officeDocument/2006/relationships/slide" Target="/ppt/slides/slide11.xml" Id="R9c9f54d70fee4767" /><Relationship Type="http://schemas.openxmlformats.org/officeDocument/2006/relationships/slide" Target="/ppt/slides/slide12.xml" Id="R553e818eea5448cb" /><Relationship Type="http://schemas.openxmlformats.org/officeDocument/2006/relationships/slide" Target="/ppt/slides/slide13.xml" Id="R3a38e708662b44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ec138097fa46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5160185f0d4a91" /><Relationship Type="http://schemas.openxmlformats.org/officeDocument/2006/relationships/notesMaster" Target="/ppt/notesMasters/notesMaster1.xml" Id="R56037b1532214b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f169b7651148bc" /><Relationship Type="http://schemas.openxmlformats.org/officeDocument/2006/relationships/notesMaster" Target="/ppt/notesMasters/notesMaster1.xml" Id="Rf7debbd65dcf44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16938c27504c22" /><Relationship Type="http://schemas.openxmlformats.org/officeDocument/2006/relationships/notesMaster" Target="/ppt/notesMasters/notesMaster1.xml" Id="Rd5d32572a23641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f68b694b3849d9" /><Relationship Type="http://schemas.openxmlformats.org/officeDocument/2006/relationships/notesMaster" Target="/ppt/notesMasters/notesMaster1.xml" Id="R731e036563d54e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3946c878fa49ea" /><Relationship Type="http://schemas.openxmlformats.org/officeDocument/2006/relationships/notesMaster" Target="/ppt/notesMasters/notesMaster1.xml" Id="R85548f4b60124f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8d51cc86d44764" /><Relationship Type="http://schemas.openxmlformats.org/officeDocument/2006/relationships/notesMaster" Target="/ppt/notesMasters/notesMaster1.xml" Id="Re49f448bc0a646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0871ed4221444a" /><Relationship Type="http://schemas.openxmlformats.org/officeDocument/2006/relationships/notesMaster" Target="/ppt/notesMasters/notesMaster1.xml" Id="Rb0099a3f460d43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66b38855084cc8" /><Relationship Type="http://schemas.openxmlformats.org/officeDocument/2006/relationships/notesMaster" Target="/ppt/notesMasters/notesMaster1.xml" Id="R969f8629fbd842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b014b578de4d82" /><Relationship Type="http://schemas.openxmlformats.org/officeDocument/2006/relationships/notesMaster" Target="/ppt/notesMasters/notesMaster1.xml" Id="R8d56f0a8f0954a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dfa1718bce44b4" /><Relationship Type="http://schemas.openxmlformats.org/officeDocument/2006/relationships/notesMaster" Target="/ppt/notesMasters/notesMaster1.xml" Id="Rb5e01493349443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6f70dfef7d4901" /><Relationship Type="http://schemas.openxmlformats.org/officeDocument/2006/relationships/notesMaster" Target="/ppt/notesMasters/notesMaster1.xml" Id="R4ac5a2952c1f45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0d791211644460" /><Relationship Type="http://schemas.openxmlformats.org/officeDocument/2006/relationships/notesMaster" Target="/ppt/notesMasters/notesMaster1.xml" Id="R9818fc33bdd043d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08a08acaf484896" /><Relationship Type="http://schemas.openxmlformats.org/officeDocument/2006/relationships/notesMaster" Target="/ppt/notesMasters/notesMaster1.xml" Id="Rbee76ffa4c0c4c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 application helps teachers maintain class records, enter attendance, and review reports through one workflow. Keep the session focused on daily teaching tasks rather than technical details.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apps/school-administration-ui/src/components/includes/aside-menu/aside-menu.riot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briefly. Mention your current position as Technical Lead at PT Bank Sinarmas Tbk and your focus on backend platforms, distributed systems, workflow engines, and data processing. The next slide provides the career context.</a:t>
            </a:r>
          </a:p>
          <a:p xmlns:a="http://schemas.openxmlformats.org/drawingml/2006/main">
            <a:r>
              <a:t/>
            </a:r>
          </a:p>
          <a:p xmlns:a="http://schemas.openxmlformats.org/drawingml/2006/main">
            <a:r>
              <a:t>[Sources]</a:t>
            </a:r>
          </a:p>
          <a:p xmlns:a="http://schemas.openxmlformats.org/drawingml/2006/main">
            <a:r>
              <a:t>- /Users/kennykarnama/Documents/Kenny_Karnama_CV_2026_updated.pdf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connection rather than reading the timeline. Ruangguru showed you how technology can support learning at scale. Smartfren sharpened your approach to production reliability. FrankieOne added workflow and platform experience. Bank Sinarmas strengthened your enterprise architecture and governance practice. This application brings those lessons back to education in a practical form for teachers.</a:t>
            </a:r>
          </a:p>
          <a:p xmlns:a="http://schemas.openxmlformats.org/drawingml/2006/main">
            <a:r>
              <a:t/>
            </a:r>
          </a:p>
          <a:p xmlns:a="http://schemas.openxmlformats.org/drawingml/2006/main">
            <a:r>
              <a:t>[Sources]</a:t>
            </a:r>
          </a:p>
          <a:p xmlns:a="http://schemas.openxmlformats.org/drawingml/2006/main">
            <a:r>
              <a:t>- /Users/kennykarnama/Documents/Kenny_Karnama_CV_2026_updated.pdf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personal purpose behind the application. It is intended as a social contribution to the education sector. It also gives you a real project through which to strengthen your preparation for a future master's degree in Machine Learning. Invite teachers to shape the platform through practical feedback.</a:t>
            </a:r>
          </a:p>
          <a:p xmlns:a="http://schemas.openxmlformats.org/drawingml/2006/main">
            <a:r>
              <a:t/>
            </a:r>
          </a:p>
          <a:p xmlns:a="http://schemas.openxmlformats.org/drawingml/2006/main">
            <a:r>
              <a:t>[Sources]</a:t>
            </a:r>
          </a:p>
          <a:p xmlns:a="http://schemas.openxmlformats.org/drawingml/2006/main">
            <a:r>
              <a:t>- User-provided project purpose, 2026-09-05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explanation high-level. Cloud DNS maps the school domain to the VM's external IP. Nginx terminates HTTPS and forwards browser traffic to the UI. The application stack runs in Docker Compose on a small GCP Spot VM. The administration and user APIs connect to separate CockroachDB Cloud databases.</a:t>
            </a:r>
          </a:p>
          <a:p xmlns:a="http://schemas.openxmlformats.org/drawingml/2006/main">
            <a:r>
              <a:t/>
            </a:r>
          </a:p>
          <a:p xmlns:a="http://schemas.openxmlformats.org/drawingml/2006/main">
            <a:r>
              <a:t>[Sources]</a:t>
            </a:r>
          </a:p>
          <a:p xmlns:a="http://schemas.openxmlformats.org/drawingml/2006/main">
            <a:r>
              <a:t>- User-provided deployment description, 2026-09-05</a:t>
            </a:r>
          </a:p>
          <a:p xmlns:a="http://schemas.openxmlformats.org/drawingml/2006/main">
            <a:r>
              <a:t>- deploy/compose.yaml</a:t>
            </a:r>
          </a:p>
          <a:p xmlns:a="http://schemas.openxmlformats.org/drawingml/2006/main">
            <a:r>
              <a:t>- deploy/README.md</a:t>
            </a:r>
          </a:p>
          <a:p xmlns:a="http://schemas.openxmlformats.org/drawingml/2006/main">
            <a:r>
              <a:t>- deploy/proxy/README.md</a:t>
            </a:r>
          </a:p>
          <a:p xmlns:a="http://schemas.openxmlformats.org/drawingml/2006/main">
            <a:r>
              <a:t>- deploy/proxy/templates/school.conf.template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these three parts to a teacher's routine. The process begins with clean records, continues with daily attendance, and ends with reports that teachers can review.</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apps/school-administration-ui/src/components/global/app-content/app-content.riot</a:t>
            </a:r>
          </a:p>
          <a:p xmlns:a="http://schemas.openxmlformats.org/drawingml/2006/main">
            <a:r>
              <a:t>- apps/school-administration-ui/src/components/includes/pages/absensi/rekap/rekap.riot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workflow as the map for the session. After signing in, show Initial Data first. Continue to Attendance Entry, then Reports. Show the Class Summary if time allows.</a:t>
            </a:r>
          </a:p>
          <a:p xmlns:a="http://schemas.openxmlformats.org/drawingml/2006/main">
            <a:r>
              <a:t/>
            </a:r>
          </a:p>
          <a:p xmlns:a="http://schemas.openxmlformats.org/drawingml/2006/main">
            <a:r>
              <a:t>[Sources]</a:t>
            </a:r>
          </a:p>
          <a:p xmlns:a="http://schemas.openxmlformats.org/drawingml/2006/main">
            <a:r>
              <a:t>- apps/school-administration-ui/src/components/includes/aside-menu/aside-menu.riot</a:t>
            </a:r>
          </a:p>
          <a:p xmlns:a="http://schemas.openxmlformats.org/drawingml/2006/main">
            <a:r>
              <a:t>- apps/school-administration-ui/src/components/global/app-content/app-content.riot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Initial Data is not a daily task. Schools usually prepare it at the beginning of a semester or when class assignments change. Show the Add, Download Excel Template, and Import Excel/CSV controls.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apps/school-administration-ui/src/components/includes/pages/setup/setup.riot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teachers can review create, update, unchanged, and error results before applying records. The Apply Data button becomes available only after the preview is valid.</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apps/school-administration-ui/src/components/includes/pages/setup/setup.riot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the demo, select the academic year, class, and date. Search to load the students. Explain how this order helps prevent entries under the wrong class or date.</a:t>
            </a:r>
          </a:p>
          <a:p xmlns:a="http://schemas.openxmlformats.org/drawingml/2006/main">
            <a:r>
              <a:t/>
            </a:r>
          </a:p>
          <a:p xmlns:a="http://schemas.openxmlformats.org/drawingml/2006/main">
            <a:r>
              <a:t>[Sources]</a:t>
            </a:r>
          </a:p>
          <a:p xmlns:a="http://schemas.openxmlformats.org/drawingml/2006/main">
            <a:r>
              <a:t>- apps/school-administration-ui/src/components/includes/pages/absensi/absensi-input/absensi-input.riot</a:t>
            </a:r>
          </a:p>
          <a:p xmlns:a="http://schemas.openxmlformats.org/drawingml/2006/main">
            <a:r>
              <a:t>- apps/school-administration-ui/src/components/includes/pages/absensi/absensi-table/absensi-table.riot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date-range filters on the Reports page. After the results appear, point out the table and download control. Open the Class Summary if time allows.</a:t>
            </a:r>
          </a:p>
          <a:p xmlns:a="http://schemas.openxmlformats.org/drawingml/2006/main">
            <a:r>
              <a:t/>
            </a:r>
          </a:p>
          <a:p xmlns:a="http://schemas.openxmlformats.org/drawingml/2006/main">
            <a:r>
              <a:t>[Sources]</a:t>
            </a:r>
          </a:p>
          <a:p xmlns:a="http://schemas.openxmlformats.org/drawingml/2006/main">
            <a:r>
              <a:t>- apps/school-administration-ui/src/components/includes/pages/absensi/rekap/rekap.riot</a:t>
            </a:r>
          </a:p>
          <a:p xmlns:a="http://schemas.openxmlformats.org/drawingml/2006/main">
            <a:r>
              <a:t>- apps/school-administration-ui/src/components/includes/pages/absensi/rekap/rekap-klasikal.riot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takes about five minutes. Use the local development account and sample records. Do not display or change production data during practice.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apps/school-administration-ui/src/components/includes/pages/login/login.riot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proposing a limited trial. Ask teachers whether the workflow is clear, what slows them down, and which reports would help most.</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apps/school-administration-ui/src/components/includes/pages/setup/setup.riot</a:t>
            </a:r>
          </a:p>
          <a:p xmlns:a="http://schemas.openxmlformats.org/drawingml/2006/main">
            <a:r>
              <a:t>- apps/school-administration-ui/src/components/includes/pages/absensi/rekap/rekap.riot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0a16df810b4e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4fcf45a96c4388" /><Relationship Type="http://schemas.openxmlformats.org/officeDocument/2006/relationships/slideLayout" Target="/ppt/slideLayouts/slideLayout1.xml" Id="Rd847e05aaa084e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47e05aaa084e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47af8eb6e446cb" /><Relationship Type="http://schemas.openxmlformats.org/officeDocument/2006/relationships/notesSlide" Target="/ppt/notesSlides/notesSlide1.xml" Id="R79025d218af24c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2b7128c1d64bcc" /><Relationship Type="http://schemas.openxmlformats.org/officeDocument/2006/relationships/notesSlide" Target="/ppt/notesSlides/notesSlide2.xml" Id="R8ce0e695d7044e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eae207171c4634" /><Relationship Type="http://schemas.openxmlformats.org/officeDocument/2006/relationships/notesSlide" Target="/ppt/notesSlides/notesSlide3.xml" Id="Raa9cdbbdc2d844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f8cd551ada743e2" /><Relationship Type="http://schemas.openxmlformats.org/officeDocument/2006/relationships/notesSlide" Target="/ppt/notesSlides/notesSlide4.xml" Id="R79efa6ebe0d640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f7f6c75d9d4af1" /><Relationship Type="http://schemas.openxmlformats.org/officeDocument/2006/relationships/notesSlide" Target="/ppt/notesSlides/notesSlide5.xml" Id="Rd6546b9a086549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4bd2e3f1ac46ed" /><Relationship Type="http://schemas.openxmlformats.org/officeDocument/2006/relationships/notesSlide" Target="/ppt/notesSlides/notesSlide6.xml" Id="R337c6e60b8d546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e1a480f237d45f8" /><Relationship Type="http://schemas.openxmlformats.org/officeDocument/2006/relationships/notesSlide" Target="/ppt/notesSlides/notesSlide7.xml" Id="R221ad702cbad44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0d43e4842242f3" /><Relationship Type="http://schemas.openxmlformats.org/officeDocument/2006/relationships/notesSlide" Target="/ppt/notesSlides/notesSlide8.xml" Id="R66b3374b1c224f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762d09259d94ce9" /><Relationship Type="http://schemas.openxmlformats.org/officeDocument/2006/relationships/notesSlide" Target="/ppt/notesSlides/notesSlide9.xml" Id="R27950def734c4a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7f1a9e37024df8" /><Relationship Type="http://schemas.openxmlformats.org/officeDocument/2006/relationships/notesSlide" Target="/ppt/notesSlides/notesSlide10.xml" Id="R9bd0f78bd7c14bb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43754bafcb34d40" /><Relationship Type="http://schemas.openxmlformats.org/officeDocument/2006/relationships/notesSlide" Target="/ppt/notesSlides/notesSlide11.xml" Id="R005ec355177145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205291643fb4ddb" /><Relationship Type="http://schemas.openxmlformats.org/officeDocument/2006/relationships/notesSlide" Target="/ppt/notesSlides/notesSlide12.xml" Id="R5dca361a8a0840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20510c072a742c1" /><Relationship Type="http://schemas.openxmlformats.org/officeDocument/2006/relationships/notesSlide" Target="/ppt/notesSlides/notesSlide13.xml" Id="Rf207768c521a410a" /></Relationships>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AFACB4-E247-4746-9F7B-05C36ECF473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5755D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F3501A-0974-4531-8EDF-924DC0BFACE4}"/>
              </a:ext>
            </a:extLst>
          </p:cNvPr>
          <p:cNvSpPr>
            <a:spLocks xmlns:a="http://schemas.openxmlformats.org/drawingml/2006/main" noGrp="1"/>
          </p:cNvSpPr>
          <p:nvPr/>
        </p:nvSpPr>
        <p:spPr>
          <a:xfrm xmlns:a="http://schemas.openxmlformats.org/drawingml/2006/main">
            <a:off x="819150" y="1466850"/>
            <a:ext cx="8001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FFFFFF"/>
                </a:solidFill>
                <a:latin typeface="Helvetica Neue"/>
                <a:ea typeface="Helvetica Neue"/>
                <a:cs typeface="Helvetica Neue"/>
              </a:defRPr>
            </a:pPr>
            <a:r>
              <a:rPr sz="4500" b="1">
                <a:solidFill>
                  <a:srgbClr val="FFFFFF"/>
                </a:solidFill>
                <a:latin typeface="Helvetica Neue"/>
                <a:ea typeface="Helvetica Neue"/>
                <a:cs typeface="Helvetica Neue"/>
              </a:rPr>
              <a:t>School Administration</a:t>
            </a:r>
          </a:p>
          <a:p xmlns:a="http://schemas.openxmlformats.org/drawingml/2006/main">
            <a:pPr algn="l">
              <a:defRPr sz="4500" b="1">
                <a:solidFill>
                  <a:srgbClr val="FFFFFF"/>
                </a:solidFill>
                <a:latin typeface="Helvetica Neue"/>
                <a:ea typeface="Helvetica Neue"/>
                <a:cs typeface="Helvetica Neue"/>
              </a:defRPr>
            </a:pPr>
            <a:r>
              <a:rPr sz="4500" b="1">
                <a:solidFill>
                  <a:srgbClr val="FFFFFF"/>
                </a:solidFill>
                <a:latin typeface="Helvetica Neue"/>
                <a:ea typeface="Helvetica Neue"/>
                <a:cs typeface="Helvetica Neue"/>
              </a:rPr>
              <a:t>Platform</a:t>
            </a:r>
          </a:p>
        </p:txBody>
      </p:sp>
      <p:sp>
        <p:nvSpPr>
          <p:cNvPr id="3" name="">
            <a:extLst xmlns:a="http://schemas.openxmlformats.org/drawingml/2006/main">
              <a:ext uri="{FF2B5EF4-FFF2-40B4-BE49-F238E27FC236}">
                <a16:creationId xmlns:a16="http://schemas.microsoft.com/office/drawing/2014/main" id="{F3D175BC-5CF6-4C66-828A-2B7454179485}"/>
              </a:ext>
            </a:extLst>
          </p:cNvPr>
          <p:cNvSpPr>
            <a:spLocks xmlns:a="http://schemas.openxmlformats.org/drawingml/2006/main" noGrp="1"/>
          </p:cNvSpPr>
          <p:nvPr/>
        </p:nvSpPr>
        <p:spPr>
          <a:xfrm xmlns:a="http://schemas.openxmlformats.org/drawingml/2006/main">
            <a:off x="857250" y="3390900"/>
            <a:ext cx="752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CBD5E1"/>
                </a:solidFill>
                <a:latin typeface="Helvetica Neue"/>
                <a:ea typeface="Helvetica Neue"/>
                <a:cs typeface="Helvetica Neue"/>
              </a:defRPr>
            </a:pPr>
            <a:r>
              <a:rPr sz="1875" b="0">
                <a:solidFill>
                  <a:srgbClr val="CBD5E1"/>
                </a:solidFill>
                <a:latin typeface="Helvetica Neue"/>
                <a:ea typeface="Helvetica Neue"/>
                <a:cs typeface="Helvetica Neue"/>
              </a:rPr>
              <a:t>Attendance and class records for everyday use</a:t>
            </a:r>
          </a:p>
        </p:txBody>
      </p:sp>
      <p:sp>
        <p:nvSpPr>
          <p:cNvPr id="4" name="">
            <a:extLst xmlns:a="http://schemas.openxmlformats.org/drawingml/2006/main">
              <a:ext uri="{FF2B5EF4-FFF2-40B4-BE49-F238E27FC236}">
                <a16:creationId xmlns:a16="http://schemas.microsoft.com/office/drawing/2014/main" id="{682C36C7-1C2E-4CA9-BA7E-A0DBB2026442}"/>
              </a:ext>
            </a:extLst>
          </p:cNvPr>
          <p:cNvSpPr>
            <a:spLocks xmlns:a="http://schemas.openxmlformats.org/drawingml/2006/main" noGrp="1"/>
          </p:cNvSpPr>
          <p:nvPr/>
        </p:nvSpPr>
        <p:spPr>
          <a:xfrm xmlns:a="http://schemas.openxmlformats.org/drawingml/2006/main">
            <a:off x="857250" y="4229100"/>
            <a:ext cx="6381750" cy="0"/>
          </a:xfrm>
          <a:prstGeom xmlns:a="http://schemas.openxmlformats.org/drawingml/2006/main" prst="line">
            <a:avLst/>
          </a:prstGeom>
          <a:noFill xmlns:a="http://schemas.openxmlformats.org/drawingml/2006/main"/>
          <a:ln xmlns:a="http://schemas.openxmlformats.org/drawingml/2006/main" w="19050">
            <a:solidFill>
              <a:srgbClr val="475569"/>
            </a:solidFill>
          </a:ln>
        </p:spPr>
      </p:sp>
      <p:sp>
        <p:nvSpPr>
          <p:cNvPr id="5" name="">
            <a:extLst xmlns:a="http://schemas.openxmlformats.org/drawingml/2006/main">
              <a:ext uri="{FF2B5EF4-FFF2-40B4-BE49-F238E27FC236}">
                <a16:creationId xmlns:a16="http://schemas.microsoft.com/office/drawing/2014/main" id="{CF1617ED-BE0E-4511-8248-7C4E8CB0C6E1}"/>
              </a:ext>
            </a:extLst>
          </p:cNvPr>
          <p:cNvSpPr>
            <a:spLocks xmlns:a="http://schemas.openxmlformats.org/drawingml/2006/main" noGrp="1"/>
          </p:cNvSpPr>
          <p:nvPr/>
        </p:nvSpPr>
        <p:spPr>
          <a:xfrm xmlns:a="http://schemas.openxmlformats.org/drawingml/2006/main">
            <a:off x="857250" y="449580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A5B4FC"/>
                </a:solidFill>
                <a:latin typeface="Helvetica Neue"/>
                <a:ea typeface="Helvetica Neue"/>
                <a:cs typeface="Helvetica Neue"/>
              </a:defRPr>
            </a:pPr>
            <a:r>
              <a:rPr sz="1350" b="1">
                <a:solidFill>
                  <a:srgbClr val="A5B4FC"/>
                </a:solidFill>
                <a:latin typeface="Helvetica Neue"/>
                <a:ea typeface="Helvetica Neue"/>
                <a:cs typeface="Helvetica Neue"/>
              </a:rPr>
              <a:t>Introduction for teachers</a:t>
            </a:r>
          </a:p>
        </p:txBody>
      </p:sp>
      <p:sp>
        <p:nvSpPr>
          <p:cNvPr id="6" name="">
            <a:extLst xmlns:a="http://schemas.openxmlformats.org/drawingml/2006/main">
              <a:ext uri="{FF2B5EF4-FFF2-40B4-BE49-F238E27FC236}">
                <a16:creationId xmlns:a16="http://schemas.microsoft.com/office/drawing/2014/main" id="{BC478053-A884-4D85-9622-223F0D55E930}"/>
              </a:ext>
            </a:extLst>
          </p:cNvPr>
          <p:cNvSpPr>
            <a:spLocks xmlns:a="http://schemas.openxmlformats.org/drawingml/2006/main" noGrp="1"/>
          </p:cNvSpPr>
          <p:nvPr/>
        </p:nvSpPr>
        <p:spPr>
          <a:xfrm xmlns:a="http://schemas.openxmlformats.org/drawingml/2006/main">
            <a:off x="857250" y="5048250"/>
            <a:ext cx="657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E2E8F0"/>
                </a:solidFill>
                <a:latin typeface="Helvetica Neue"/>
                <a:ea typeface="Helvetica Neue"/>
                <a:cs typeface="Helvetica Neue"/>
              </a:defRPr>
            </a:pPr>
            <a:r>
              <a:rPr sz="1350" b="0">
                <a:solidFill>
                  <a:srgbClr val="E2E8F0"/>
                </a:solidFill>
                <a:latin typeface="Helvetica Neue"/>
                <a:ea typeface="Helvetica Neue"/>
                <a:cs typeface="Helvetica Neue"/>
              </a:rPr>
              <a:t>Initial Data   /   Attendance Entry   /   Reports</a:t>
            </a:r>
          </a:p>
        </p:txBody>
      </p:sp>
      <p:sp>
        <p:nvSpPr>
          <p:cNvPr id="7" name="">
            <a:extLst xmlns:a="http://schemas.openxmlformats.org/drawingml/2006/main">
              <a:ext uri="{FF2B5EF4-FFF2-40B4-BE49-F238E27FC236}">
                <a16:creationId xmlns:a16="http://schemas.microsoft.com/office/drawing/2014/main" id="{A9BE1FF9-5131-44C3-95BA-DA1C3EAD7DA1}"/>
              </a:ext>
            </a:extLst>
          </p:cNvPr>
          <p:cNvSpPr>
            <a:spLocks xmlns:a="http://schemas.openxmlformats.org/drawingml/2006/main" noGrp="1"/>
          </p:cNvSpPr>
          <p:nvPr/>
        </p:nvSpPr>
        <p:spPr>
          <a:xfrm xmlns:a="http://schemas.openxmlformats.org/drawingml/2006/main">
            <a:off x="10477500" y="6115050"/>
            <a:ext cx="876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94A3B8"/>
                </a:solidFill>
                <a:latin typeface="Helvetica Neue"/>
                <a:ea typeface="Helvetica Neue"/>
                <a:cs typeface="Helvetica Neue"/>
              </a:defRPr>
            </a:pPr>
            <a:r>
              <a:rPr sz="1200" b="1">
                <a:solidFill>
                  <a:srgbClr val="94A3B8"/>
                </a:solidFill>
                <a:latin typeface="Helvetica Neue"/>
                <a:ea typeface="Helvetica Neue"/>
                <a:cs typeface="Helvetica Neue"/>
              </a:rPr>
              <a:t>2026</a:t>
            </a:r>
          </a:p>
        </p:txBody>
      </p:sp>
    </p:spTree>
    <p:extLst>
      <p:ext uri="{BB962C8B-B14F-4D97-AF65-F5344CB8AC3E}">
        <p14:creationId xmlns:p14="http://schemas.microsoft.com/office/powerpoint/2010/main" val="1644314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3C73AC9-2D0F-4B5C-9C0D-C023368B0FE9}"/>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YOUR PRESENTER</a:t>
            </a:r>
          </a:p>
        </p:txBody>
      </p:sp>
      <p:sp>
        <p:nvSpPr>
          <p:cNvPr id="2" name="">
            <a:extLst xmlns:a="http://schemas.openxmlformats.org/drawingml/2006/main">
              <a:ext uri="{FF2B5EF4-FFF2-40B4-BE49-F238E27FC236}">
                <a16:creationId xmlns:a16="http://schemas.microsoft.com/office/drawing/2014/main" id="{9F751463-2A14-4ECE-8699-8F2E3B6276FD}"/>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Kenny Karnama</a:t>
            </a:r>
          </a:p>
        </p:txBody>
      </p:sp>
      <p:sp>
        <p:nvSpPr>
          <p:cNvPr id="3" name="">
            <a:extLst xmlns:a="http://schemas.openxmlformats.org/drawingml/2006/main">
              <a:ext uri="{FF2B5EF4-FFF2-40B4-BE49-F238E27FC236}">
                <a16:creationId xmlns:a16="http://schemas.microsoft.com/office/drawing/2014/main" id="{42247FEA-1EC4-44FD-9690-B8A2A264BE78}"/>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B6F50C53-090D-435F-9AA9-1CB145D64353}"/>
              </a:ext>
            </a:extLst>
          </p:cNvPr>
          <p:cNvSpPr>
            <a:spLocks xmlns:a="http://schemas.openxmlformats.org/drawingml/2006/main" noGrp="1"/>
          </p:cNvSpPr>
          <p:nvPr/>
        </p:nvSpPr>
        <p:spPr>
          <a:xfrm xmlns:a="http://schemas.openxmlformats.org/drawingml/2006/main">
            <a:off x="800100" y="18097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Technical Lead at PT Bank Sinarmas Tbk</a:t>
            </a:r>
          </a:p>
        </p:txBody>
      </p:sp>
      <p:sp>
        <p:nvSpPr>
          <p:cNvPr id="5" name="">
            <a:extLst xmlns:a="http://schemas.openxmlformats.org/drawingml/2006/main">
              <a:ext uri="{FF2B5EF4-FFF2-40B4-BE49-F238E27FC236}">
                <a16:creationId xmlns:a16="http://schemas.microsoft.com/office/drawing/2014/main" id="{A42EC250-F13A-4F40-B177-7147CD3BB66A}"/>
              </a:ext>
            </a:extLst>
          </p:cNvPr>
          <p:cNvSpPr>
            <a:spLocks xmlns:a="http://schemas.openxmlformats.org/drawingml/2006/main" noGrp="1"/>
          </p:cNvSpPr>
          <p:nvPr/>
        </p:nvSpPr>
        <p:spPr>
          <a:xfrm xmlns:a="http://schemas.openxmlformats.org/drawingml/2006/main">
            <a:off x="800100" y="2286000"/>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64748B"/>
                </a:solidFill>
                <a:latin typeface="Helvetica Neue"/>
                <a:ea typeface="Helvetica Neue"/>
                <a:cs typeface="Helvetica Neue"/>
              </a:defRPr>
            </a:pPr>
            <a:r>
              <a:rPr sz="1575" b="0">
                <a:solidFill>
                  <a:srgbClr val="64748B"/>
                </a:solidFill>
                <a:latin typeface="Helvetica Neue"/>
                <a:ea typeface="Helvetica Neue"/>
                <a:cs typeface="Helvetica Neue"/>
              </a:rPr>
              <a:t>Senior Software Engineer focused on backend platforms, distributed systems, workflow engines, and data processing</a:t>
            </a:r>
          </a:p>
        </p:txBody>
      </p:sp>
      <p:sp>
        <p:nvSpPr>
          <p:cNvPr id="6" name="">
            <a:extLst xmlns:a="http://schemas.openxmlformats.org/drawingml/2006/main">
              <a:ext uri="{FF2B5EF4-FFF2-40B4-BE49-F238E27FC236}">
                <a16:creationId xmlns:a16="http://schemas.microsoft.com/office/drawing/2014/main" id="{E813D52B-F1E6-42D6-8443-1602124DD0AD}"/>
              </a:ext>
            </a:extLst>
          </p:cNvPr>
          <p:cNvSpPr>
            <a:spLocks xmlns:a="http://schemas.openxmlformats.org/drawingml/2006/main" noGrp="1"/>
          </p:cNvSpPr>
          <p:nvPr/>
        </p:nvSpPr>
        <p:spPr>
          <a:xfrm xmlns:a="http://schemas.openxmlformats.org/drawingml/2006/main">
            <a:off x="857250" y="3295650"/>
            <a:ext cx="128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650" b="1">
                <a:solidFill>
                  <a:srgbClr val="0F172A"/>
                </a:solidFill>
                <a:latin typeface="Helvetica Neue"/>
                <a:ea typeface="Helvetica Neue"/>
                <a:cs typeface="Helvetica Neue"/>
              </a:defRPr>
            </a:pPr>
            <a:r>
              <a:rPr sz="4650" b="1">
                <a:solidFill>
                  <a:srgbClr val="0F172A"/>
                </a:solidFill>
                <a:latin typeface="Helvetica Neue"/>
                <a:ea typeface="Helvetica Neue"/>
                <a:cs typeface="Helvetica Neue"/>
              </a:rPr>
              <a:t>8+</a:t>
            </a:r>
          </a:p>
        </p:txBody>
      </p:sp>
      <p:sp>
        <p:nvSpPr>
          <p:cNvPr id="7" name="">
            <a:extLst xmlns:a="http://schemas.openxmlformats.org/drawingml/2006/main">
              <a:ext uri="{FF2B5EF4-FFF2-40B4-BE49-F238E27FC236}">
                <a16:creationId xmlns:a16="http://schemas.microsoft.com/office/drawing/2014/main" id="{46AEC5DB-9A13-42FE-8399-F973787E229C}"/>
              </a:ext>
            </a:extLst>
          </p:cNvPr>
          <p:cNvSpPr>
            <a:spLocks xmlns:a="http://schemas.openxmlformats.org/drawingml/2006/main" noGrp="1"/>
          </p:cNvSpPr>
          <p:nvPr/>
        </p:nvSpPr>
        <p:spPr>
          <a:xfrm xmlns:a="http://schemas.openxmlformats.org/drawingml/2006/main">
            <a:off x="857250" y="4095750"/>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E293B"/>
                </a:solidFill>
                <a:latin typeface="Helvetica Neue"/>
                <a:ea typeface="Helvetica Neue"/>
                <a:cs typeface="Helvetica Neue"/>
              </a:defRPr>
            </a:pPr>
            <a:r>
              <a:rPr sz="1500" b="1">
                <a:solidFill>
                  <a:srgbClr val="1E293B"/>
                </a:solidFill>
                <a:latin typeface="Helvetica Neue"/>
                <a:ea typeface="Helvetica Neue"/>
                <a:cs typeface="Helvetica Neue"/>
              </a:rPr>
              <a:t>years in software engineering</a:t>
            </a:r>
          </a:p>
        </p:txBody>
      </p:sp>
      <p:sp>
        <p:nvSpPr>
          <p:cNvPr id="8" name="">
            <a:extLst xmlns:a="http://schemas.openxmlformats.org/drawingml/2006/main">
              <a:ext uri="{FF2B5EF4-FFF2-40B4-BE49-F238E27FC236}">
                <a16:creationId xmlns:a16="http://schemas.microsoft.com/office/drawing/2014/main" id="{622CE300-E675-4048-AE27-15313067B17D}"/>
              </a:ext>
            </a:extLst>
          </p:cNvPr>
          <p:cNvSpPr>
            <a:spLocks xmlns:a="http://schemas.openxmlformats.org/drawingml/2006/main" noGrp="1"/>
          </p:cNvSpPr>
          <p:nvPr/>
        </p:nvSpPr>
        <p:spPr>
          <a:xfrm xmlns:a="http://schemas.openxmlformats.org/drawingml/2006/main">
            <a:off x="3714750" y="3219450"/>
            <a:ext cx="0" cy="180975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9" name="">
            <a:extLst xmlns:a="http://schemas.openxmlformats.org/drawingml/2006/main">
              <a:ext uri="{FF2B5EF4-FFF2-40B4-BE49-F238E27FC236}">
                <a16:creationId xmlns:a16="http://schemas.microsoft.com/office/drawing/2014/main" id="{68EB96B9-FC5D-4004-BCD6-177DD5B58D4F}"/>
              </a:ext>
            </a:extLst>
          </p:cNvPr>
          <p:cNvSpPr>
            <a:spLocks xmlns:a="http://schemas.openxmlformats.org/drawingml/2006/main" noGrp="1"/>
          </p:cNvSpPr>
          <p:nvPr/>
        </p:nvSpPr>
        <p:spPr>
          <a:xfrm xmlns:a="http://schemas.openxmlformats.org/drawingml/2006/main">
            <a:off x="4210050" y="3333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Current role</a:t>
            </a:r>
          </a:p>
        </p:txBody>
      </p:sp>
      <p:sp>
        <p:nvSpPr>
          <p:cNvPr id="10" name="">
            <a:extLst xmlns:a="http://schemas.openxmlformats.org/drawingml/2006/main">
              <a:ext uri="{FF2B5EF4-FFF2-40B4-BE49-F238E27FC236}">
                <a16:creationId xmlns:a16="http://schemas.microsoft.com/office/drawing/2014/main" id="{9EF90CDE-537B-49DC-8E2C-1F0437992EF8}"/>
              </a:ext>
            </a:extLst>
          </p:cNvPr>
          <p:cNvSpPr>
            <a:spLocks xmlns:a="http://schemas.openxmlformats.org/drawingml/2006/main" noGrp="1"/>
          </p:cNvSpPr>
          <p:nvPr/>
        </p:nvSpPr>
        <p:spPr>
          <a:xfrm xmlns:a="http://schemas.openxmlformats.org/drawingml/2006/main">
            <a:off x="4210050" y="3733800"/>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Leading enterprise architecture and delivery across finance, risk, fraud, and reporting at Bank Sinarmas.</a:t>
            </a:r>
          </a:p>
        </p:txBody>
      </p:sp>
      <p:sp>
        <p:nvSpPr>
          <p:cNvPr id="11" name="">
            <a:extLst xmlns:a="http://schemas.openxmlformats.org/drawingml/2006/main">
              <a:ext uri="{FF2B5EF4-FFF2-40B4-BE49-F238E27FC236}">
                <a16:creationId xmlns:a16="http://schemas.microsoft.com/office/drawing/2014/main" id="{4BF7B9F2-B401-4F41-A3FF-FBDC11E0BADB}"/>
              </a:ext>
            </a:extLst>
          </p:cNvPr>
          <p:cNvSpPr>
            <a:spLocks xmlns:a="http://schemas.openxmlformats.org/drawingml/2006/main" noGrp="1"/>
          </p:cNvSpPr>
          <p:nvPr/>
        </p:nvSpPr>
        <p:spPr>
          <a:xfrm xmlns:a="http://schemas.openxmlformats.org/drawingml/2006/main">
            <a:off x="7734300" y="3219450"/>
            <a:ext cx="0" cy="180975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12" name="">
            <a:extLst xmlns:a="http://schemas.openxmlformats.org/drawingml/2006/main">
              <a:ext uri="{FF2B5EF4-FFF2-40B4-BE49-F238E27FC236}">
                <a16:creationId xmlns:a16="http://schemas.microsoft.com/office/drawing/2014/main" id="{08AA2E74-9459-409E-8A16-4FC314105103}"/>
              </a:ext>
            </a:extLst>
          </p:cNvPr>
          <p:cNvSpPr>
            <a:spLocks xmlns:a="http://schemas.openxmlformats.org/drawingml/2006/main" noGrp="1"/>
          </p:cNvSpPr>
          <p:nvPr/>
        </p:nvSpPr>
        <p:spPr>
          <a:xfrm xmlns:a="http://schemas.openxmlformats.org/drawingml/2006/main">
            <a:off x="8210550" y="33337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Technical focus</a:t>
            </a:r>
          </a:p>
        </p:txBody>
      </p:sp>
      <p:sp>
        <p:nvSpPr>
          <p:cNvPr id="13" name="">
            <a:extLst xmlns:a="http://schemas.openxmlformats.org/drawingml/2006/main">
              <a:ext uri="{FF2B5EF4-FFF2-40B4-BE49-F238E27FC236}">
                <a16:creationId xmlns:a16="http://schemas.microsoft.com/office/drawing/2014/main" id="{E23F3A84-1A31-4B76-8D2C-9D00260AB498}"/>
              </a:ext>
            </a:extLst>
          </p:cNvPr>
          <p:cNvSpPr>
            <a:spLocks xmlns:a="http://schemas.openxmlformats.org/drawingml/2006/main" noGrp="1"/>
          </p:cNvSpPr>
          <p:nvPr/>
        </p:nvSpPr>
        <p:spPr>
          <a:xfrm xmlns:a="http://schemas.openxmlformats.org/drawingml/2006/main">
            <a:off x="8210550" y="373380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Backend platforms, distributed systems, workflow engines, data processing, and cloud infrastructure.</a:t>
            </a:r>
          </a:p>
        </p:txBody>
      </p:sp>
      <p:sp>
        <p:nvSpPr>
          <p:cNvPr id="14" name="">
            <a:extLst xmlns:a="http://schemas.openxmlformats.org/drawingml/2006/main">
              <a:ext uri="{FF2B5EF4-FFF2-40B4-BE49-F238E27FC236}">
                <a16:creationId xmlns:a16="http://schemas.microsoft.com/office/drawing/2014/main" id="{2359C6F3-7062-4835-B288-8FBEAC76DCFA}"/>
              </a:ext>
            </a:extLst>
          </p:cNvPr>
          <p:cNvSpPr>
            <a:spLocks xmlns:a="http://schemas.openxmlformats.org/drawingml/2006/main" noGrp="1"/>
          </p:cNvSpPr>
          <p:nvPr/>
        </p:nvSpPr>
        <p:spPr>
          <a:xfrm xmlns:a="http://schemas.openxmlformats.org/drawingml/2006/main">
            <a:off x="800100" y="5410200"/>
            <a:ext cx="10363200" cy="55245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B322233-F27C-41F1-8EF5-2FF2A9FB5490}"/>
              </a:ext>
            </a:extLst>
          </p:cNvPr>
          <p:cNvSpPr>
            <a:spLocks xmlns:a="http://schemas.openxmlformats.org/drawingml/2006/main" noGrp="1"/>
          </p:cNvSpPr>
          <p:nvPr/>
        </p:nvSpPr>
        <p:spPr>
          <a:xfrm xmlns:a="http://schemas.openxmlformats.org/drawingml/2006/main">
            <a:off x="1066800" y="5572125"/>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5755D9"/>
                </a:solidFill>
                <a:latin typeface="Helvetica Neue"/>
                <a:ea typeface="Helvetica Neue"/>
                <a:cs typeface="Helvetica Neue"/>
              </a:defRPr>
            </a:pPr>
            <a:r>
              <a:rPr sz="1500" b="1">
                <a:solidFill>
                  <a:srgbClr val="5755D9"/>
                </a:solidFill>
                <a:latin typeface="Helvetica Neue"/>
                <a:ea typeface="Helvetica Neue"/>
                <a:cs typeface="Helvetica Neue"/>
              </a:rPr>
              <a:t>Today: a practical walkthrough of the platform, followed by teacher feedback</a:t>
            </a:r>
          </a:p>
        </p:txBody>
      </p:sp>
      <p:sp>
        <p:nvSpPr>
          <p:cNvPr id="16" name="">
            <a:extLst xmlns:a="http://schemas.openxmlformats.org/drawingml/2006/main">
              <a:ext uri="{FF2B5EF4-FFF2-40B4-BE49-F238E27FC236}">
                <a16:creationId xmlns:a16="http://schemas.microsoft.com/office/drawing/2014/main" id="{B09F51D7-EC17-4F3E-875A-0CA2090184D3}"/>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7" name="">
            <a:extLst xmlns:a="http://schemas.openxmlformats.org/drawingml/2006/main">
              <a:ext uri="{FF2B5EF4-FFF2-40B4-BE49-F238E27FC236}">
                <a16:creationId xmlns:a16="http://schemas.microsoft.com/office/drawing/2014/main" id="{FCCA3D88-B292-4845-BC5B-35DBEBD3FEC4}"/>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02</a:t>
            </a:r>
          </a:p>
        </p:txBody>
      </p:sp>
    </p:spTree>
    <p:extLst>
      <p:ext uri="{BB962C8B-B14F-4D97-AF65-F5344CB8AC3E}">
        <p14:creationId xmlns:p14="http://schemas.microsoft.com/office/powerpoint/2010/main" val="1370087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39CCCDB-A819-4F5F-8180-B0109D295292}"/>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PROFESSIONAL JOURNEY</a:t>
            </a:r>
          </a:p>
        </p:txBody>
      </p:sp>
      <p:sp>
        <p:nvSpPr>
          <p:cNvPr id="2" name="">
            <a:extLst xmlns:a="http://schemas.openxmlformats.org/drawingml/2006/main">
              <a:ext uri="{FF2B5EF4-FFF2-40B4-BE49-F238E27FC236}">
                <a16:creationId xmlns:a16="http://schemas.microsoft.com/office/drawing/2014/main" id="{7467EE70-52DA-4783-8E6C-AF61397F4B5E}"/>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Experience across education and large-scale platforms</a:t>
            </a:r>
          </a:p>
        </p:txBody>
      </p:sp>
      <p:sp>
        <p:nvSpPr>
          <p:cNvPr id="3" name="">
            <a:extLst xmlns:a="http://schemas.openxmlformats.org/drawingml/2006/main">
              <a:ext uri="{FF2B5EF4-FFF2-40B4-BE49-F238E27FC236}">
                <a16:creationId xmlns:a16="http://schemas.microsoft.com/office/drawing/2014/main" id="{8339AA86-DDF9-49FA-B4E2-D07F18830B10}"/>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014AF41A-6092-4443-A177-B4FBDCE84E17}"/>
              </a:ext>
            </a:extLst>
          </p:cNvPr>
          <p:cNvSpPr>
            <a:spLocks xmlns:a="http://schemas.openxmlformats.org/drawingml/2006/main" noGrp="1"/>
          </p:cNvSpPr>
          <p:nvPr/>
        </p:nvSpPr>
        <p:spPr>
          <a:xfrm xmlns:a="http://schemas.openxmlformats.org/drawingml/2006/main">
            <a:off x="7810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5755D9"/>
                </a:solidFill>
                <a:latin typeface="Helvetica Neue"/>
                <a:ea typeface="Helvetica Neue"/>
                <a:cs typeface="Helvetica Neue"/>
              </a:defRPr>
            </a:pPr>
            <a:r>
              <a:rPr sz="1275" b="1">
                <a:solidFill>
                  <a:srgbClr val="5755D9"/>
                </a:solidFill>
                <a:latin typeface="Helvetica Neue"/>
                <a:ea typeface="Helvetica Neue"/>
                <a:cs typeface="Helvetica Neue"/>
              </a:rPr>
              <a:t>2019–2022</a:t>
            </a:r>
          </a:p>
        </p:txBody>
      </p:sp>
      <p:sp>
        <p:nvSpPr>
          <p:cNvPr id="5" name="">
            <a:extLst xmlns:a="http://schemas.openxmlformats.org/drawingml/2006/main">
              <a:ext uri="{FF2B5EF4-FFF2-40B4-BE49-F238E27FC236}">
                <a16:creationId xmlns:a16="http://schemas.microsoft.com/office/drawing/2014/main" id="{C319273A-54A0-4725-9046-6E959A9FABD9}"/>
              </a:ext>
            </a:extLst>
          </p:cNvPr>
          <p:cNvSpPr>
            <a:spLocks xmlns:a="http://schemas.openxmlformats.org/drawingml/2006/main" noGrp="1"/>
          </p:cNvSpPr>
          <p:nvPr/>
        </p:nvSpPr>
        <p:spPr>
          <a:xfrm xmlns:a="http://schemas.openxmlformats.org/drawingml/2006/main">
            <a:off x="7810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Ruangguru</a:t>
            </a:r>
          </a:p>
        </p:txBody>
      </p:sp>
      <p:sp>
        <p:nvSpPr>
          <p:cNvPr id="6" name="">
            <a:extLst xmlns:a="http://schemas.openxmlformats.org/drawingml/2006/main">
              <a:ext uri="{FF2B5EF4-FFF2-40B4-BE49-F238E27FC236}">
                <a16:creationId xmlns:a16="http://schemas.microsoft.com/office/drawing/2014/main" id="{40B76624-D5A9-44DC-903E-396129BBB57F}"/>
              </a:ext>
            </a:extLst>
          </p:cNvPr>
          <p:cNvSpPr>
            <a:spLocks xmlns:a="http://schemas.openxmlformats.org/drawingml/2006/main" noGrp="1"/>
          </p:cNvSpPr>
          <p:nvPr/>
        </p:nvSpPr>
        <p:spPr>
          <a:xfrm xmlns:a="http://schemas.openxmlformats.org/drawingml/2006/main">
            <a:off x="7810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5755D9"/>
                </a:solidFill>
                <a:latin typeface="Helvetica Neue"/>
                <a:ea typeface="Helvetica Neue"/>
                <a:cs typeface="Helvetica Neue"/>
              </a:defRPr>
            </a:pPr>
            <a:r>
              <a:rPr sz="1350" b="1">
                <a:solidFill>
                  <a:srgbClr val="5755D9"/>
                </a:solidFill>
                <a:latin typeface="Helvetica Neue"/>
                <a:ea typeface="Helvetica Neue"/>
                <a:cs typeface="Helvetica Neue"/>
              </a:rPr>
              <a:t>Education technology</a:t>
            </a:r>
          </a:p>
        </p:txBody>
      </p:sp>
      <p:sp>
        <p:nvSpPr>
          <p:cNvPr id="7" name="">
            <a:extLst xmlns:a="http://schemas.openxmlformats.org/drawingml/2006/main">
              <a:ext uri="{FF2B5EF4-FFF2-40B4-BE49-F238E27FC236}">
                <a16:creationId xmlns:a16="http://schemas.microsoft.com/office/drawing/2014/main" id="{9D8E0A5B-DE2C-4485-ABA0-7A89F0FFE65A}"/>
              </a:ext>
            </a:extLst>
          </p:cNvPr>
          <p:cNvSpPr>
            <a:spLocks xmlns:a="http://schemas.openxmlformats.org/drawingml/2006/main" noGrp="1"/>
          </p:cNvSpPr>
          <p:nvPr/>
        </p:nvSpPr>
        <p:spPr>
          <a:xfrm xmlns:a="http://schemas.openxmlformats.org/drawingml/2006/main">
            <a:off x="781050" y="2971800"/>
            <a:ext cx="2333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Built 20+ content and streaming services, including Live Quiz, supporting traffic of up to 20,000 requests per second.</a:t>
            </a:r>
          </a:p>
        </p:txBody>
      </p:sp>
      <p:sp>
        <p:nvSpPr>
          <p:cNvPr id="8" name="">
            <a:extLst xmlns:a="http://schemas.openxmlformats.org/drawingml/2006/main">
              <a:ext uri="{FF2B5EF4-FFF2-40B4-BE49-F238E27FC236}">
                <a16:creationId xmlns:a16="http://schemas.microsoft.com/office/drawing/2014/main" id="{D3843C14-F388-4AE5-91F2-8BA29CEE83B5}"/>
              </a:ext>
            </a:extLst>
          </p:cNvPr>
          <p:cNvSpPr>
            <a:spLocks xmlns:a="http://schemas.openxmlformats.org/drawingml/2006/main" noGrp="1"/>
          </p:cNvSpPr>
          <p:nvPr/>
        </p:nvSpPr>
        <p:spPr>
          <a:xfrm xmlns:a="http://schemas.openxmlformats.org/drawingml/2006/main">
            <a:off x="3333750" y="1847850"/>
            <a:ext cx="0" cy="24003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9" name="">
            <a:extLst xmlns:a="http://schemas.openxmlformats.org/drawingml/2006/main">
              <a:ext uri="{FF2B5EF4-FFF2-40B4-BE49-F238E27FC236}">
                <a16:creationId xmlns:a16="http://schemas.microsoft.com/office/drawing/2014/main" id="{8F03954C-3A0E-4206-889D-D0FECDFBF895}"/>
              </a:ext>
            </a:extLst>
          </p:cNvPr>
          <p:cNvSpPr>
            <a:spLocks xmlns:a="http://schemas.openxmlformats.org/drawingml/2006/main" noGrp="1"/>
          </p:cNvSpPr>
          <p:nvPr/>
        </p:nvSpPr>
        <p:spPr>
          <a:xfrm xmlns:a="http://schemas.openxmlformats.org/drawingml/2006/main">
            <a:off x="36385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2563EB"/>
                </a:solidFill>
                <a:latin typeface="Helvetica Neue"/>
                <a:ea typeface="Helvetica Neue"/>
                <a:cs typeface="Helvetica Neue"/>
              </a:defRPr>
            </a:pPr>
            <a:r>
              <a:rPr sz="1275" b="1">
                <a:solidFill>
                  <a:srgbClr val="2563EB"/>
                </a:solidFill>
                <a:latin typeface="Helvetica Neue"/>
                <a:ea typeface="Helvetica Neue"/>
                <a:cs typeface="Helvetica Neue"/>
              </a:rPr>
              <a:t>2022–2023</a:t>
            </a:r>
          </a:p>
        </p:txBody>
      </p:sp>
      <p:sp>
        <p:nvSpPr>
          <p:cNvPr id="10" name="">
            <a:extLst xmlns:a="http://schemas.openxmlformats.org/drawingml/2006/main">
              <a:ext uri="{FF2B5EF4-FFF2-40B4-BE49-F238E27FC236}">
                <a16:creationId xmlns:a16="http://schemas.microsoft.com/office/drawing/2014/main" id="{29D8E851-DEF7-4109-897C-3E0390E1D473}"/>
              </a:ext>
            </a:extLst>
          </p:cNvPr>
          <p:cNvSpPr>
            <a:spLocks xmlns:a="http://schemas.openxmlformats.org/drawingml/2006/main" noGrp="1"/>
          </p:cNvSpPr>
          <p:nvPr/>
        </p:nvSpPr>
        <p:spPr>
          <a:xfrm xmlns:a="http://schemas.openxmlformats.org/drawingml/2006/main">
            <a:off x="36385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Smartfren</a:t>
            </a:r>
          </a:p>
        </p:txBody>
      </p:sp>
      <p:sp>
        <p:nvSpPr>
          <p:cNvPr id="11" name="">
            <a:extLst xmlns:a="http://schemas.openxmlformats.org/drawingml/2006/main">
              <a:ext uri="{FF2B5EF4-FFF2-40B4-BE49-F238E27FC236}">
                <a16:creationId xmlns:a16="http://schemas.microsoft.com/office/drawing/2014/main" id="{6AD0EF54-88DC-4111-ACD4-872B354D355F}"/>
              </a:ext>
            </a:extLst>
          </p:cNvPr>
          <p:cNvSpPr>
            <a:spLocks xmlns:a="http://schemas.openxmlformats.org/drawingml/2006/main" noGrp="1"/>
          </p:cNvSpPr>
          <p:nvPr/>
        </p:nvSpPr>
        <p:spPr>
          <a:xfrm xmlns:a="http://schemas.openxmlformats.org/drawingml/2006/main">
            <a:off x="36385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Telecom reliability</a:t>
            </a:r>
          </a:p>
        </p:txBody>
      </p:sp>
      <p:sp>
        <p:nvSpPr>
          <p:cNvPr id="12" name="">
            <a:extLst xmlns:a="http://schemas.openxmlformats.org/drawingml/2006/main">
              <a:ext uri="{FF2B5EF4-FFF2-40B4-BE49-F238E27FC236}">
                <a16:creationId xmlns:a16="http://schemas.microsoft.com/office/drawing/2014/main" id="{702DB825-F3B1-498C-AC00-321BF2B112CD}"/>
              </a:ext>
            </a:extLst>
          </p:cNvPr>
          <p:cNvSpPr>
            <a:spLocks xmlns:a="http://schemas.openxmlformats.org/drawingml/2006/main" noGrp="1"/>
          </p:cNvSpPr>
          <p:nvPr/>
        </p:nvSpPr>
        <p:spPr>
          <a:xfrm xmlns:a="http://schemas.openxmlformats.org/drawingml/2006/main">
            <a:off x="3638550" y="2971800"/>
            <a:ext cx="2333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Resolved long-running production issues and improved concurrency, resilience, observability, and delivery pipelines.</a:t>
            </a:r>
          </a:p>
        </p:txBody>
      </p:sp>
      <p:sp>
        <p:nvSpPr>
          <p:cNvPr id="13" name="">
            <a:extLst xmlns:a="http://schemas.openxmlformats.org/drawingml/2006/main">
              <a:ext uri="{FF2B5EF4-FFF2-40B4-BE49-F238E27FC236}">
                <a16:creationId xmlns:a16="http://schemas.microsoft.com/office/drawing/2014/main" id="{8624CF10-A534-429B-BABE-ABFAB5FEC564}"/>
              </a:ext>
            </a:extLst>
          </p:cNvPr>
          <p:cNvSpPr>
            <a:spLocks xmlns:a="http://schemas.openxmlformats.org/drawingml/2006/main" noGrp="1"/>
          </p:cNvSpPr>
          <p:nvPr/>
        </p:nvSpPr>
        <p:spPr>
          <a:xfrm xmlns:a="http://schemas.openxmlformats.org/drawingml/2006/main">
            <a:off x="6191250" y="1847850"/>
            <a:ext cx="0" cy="24003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14" name="">
            <a:extLst xmlns:a="http://schemas.openxmlformats.org/drawingml/2006/main">
              <a:ext uri="{FF2B5EF4-FFF2-40B4-BE49-F238E27FC236}">
                <a16:creationId xmlns:a16="http://schemas.microsoft.com/office/drawing/2014/main" id="{B79A059B-07C6-4301-9C55-DC073277E257}"/>
              </a:ext>
            </a:extLst>
          </p:cNvPr>
          <p:cNvSpPr>
            <a:spLocks xmlns:a="http://schemas.openxmlformats.org/drawingml/2006/main" noGrp="1"/>
          </p:cNvSpPr>
          <p:nvPr/>
        </p:nvSpPr>
        <p:spPr>
          <a:xfrm xmlns:a="http://schemas.openxmlformats.org/drawingml/2006/main">
            <a:off x="64960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6A34A"/>
                </a:solidFill>
                <a:latin typeface="Helvetica Neue"/>
                <a:ea typeface="Helvetica Neue"/>
                <a:cs typeface="Helvetica Neue"/>
              </a:defRPr>
            </a:pPr>
            <a:r>
              <a:rPr sz="1275" b="1">
                <a:solidFill>
                  <a:srgbClr val="16A34A"/>
                </a:solidFill>
                <a:latin typeface="Helvetica Neue"/>
                <a:ea typeface="Helvetica Neue"/>
                <a:cs typeface="Helvetica Neue"/>
              </a:rPr>
              <a:t>2023–2024</a:t>
            </a:r>
          </a:p>
        </p:txBody>
      </p:sp>
      <p:sp>
        <p:nvSpPr>
          <p:cNvPr id="15" name="">
            <a:extLst xmlns:a="http://schemas.openxmlformats.org/drawingml/2006/main">
              <a:ext uri="{FF2B5EF4-FFF2-40B4-BE49-F238E27FC236}">
                <a16:creationId xmlns:a16="http://schemas.microsoft.com/office/drawing/2014/main" id="{D3A22D4C-0C60-430B-8700-20588B1A1301}"/>
              </a:ext>
            </a:extLst>
          </p:cNvPr>
          <p:cNvSpPr>
            <a:spLocks xmlns:a="http://schemas.openxmlformats.org/drawingml/2006/main" noGrp="1"/>
          </p:cNvSpPr>
          <p:nvPr/>
        </p:nvSpPr>
        <p:spPr>
          <a:xfrm xmlns:a="http://schemas.openxmlformats.org/drawingml/2006/main">
            <a:off x="64960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FrankieOne</a:t>
            </a:r>
          </a:p>
        </p:txBody>
      </p:sp>
      <p:sp>
        <p:nvSpPr>
          <p:cNvPr id="16" name="">
            <a:extLst xmlns:a="http://schemas.openxmlformats.org/drawingml/2006/main">
              <a:ext uri="{FF2B5EF4-FFF2-40B4-BE49-F238E27FC236}">
                <a16:creationId xmlns:a16="http://schemas.microsoft.com/office/drawing/2014/main" id="{88970AFB-F0DA-4C23-B4F3-3C7776C6E937}"/>
              </a:ext>
            </a:extLst>
          </p:cNvPr>
          <p:cNvSpPr>
            <a:spLocks xmlns:a="http://schemas.openxmlformats.org/drawingml/2006/main" noGrp="1"/>
          </p:cNvSpPr>
          <p:nvPr/>
        </p:nvSpPr>
        <p:spPr>
          <a:xfrm xmlns:a="http://schemas.openxmlformats.org/drawingml/2006/main">
            <a:off x="64960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16A34A"/>
                </a:solidFill>
                <a:latin typeface="Helvetica Neue"/>
                <a:ea typeface="Helvetica Neue"/>
                <a:cs typeface="Helvetica Neue"/>
              </a:defRPr>
            </a:pPr>
            <a:r>
              <a:rPr sz="1350" b="1">
                <a:solidFill>
                  <a:srgbClr val="16A34A"/>
                </a:solidFill>
                <a:latin typeface="Helvetica Neue"/>
                <a:ea typeface="Helvetica Neue"/>
                <a:cs typeface="Helvetica Neue"/>
              </a:rPr>
              <a:t>Compliance platform</a:t>
            </a:r>
          </a:p>
        </p:txBody>
      </p:sp>
      <p:sp>
        <p:nvSpPr>
          <p:cNvPr id="17" name="">
            <a:extLst xmlns:a="http://schemas.openxmlformats.org/drawingml/2006/main">
              <a:ext uri="{FF2B5EF4-FFF2-40B4-BE49-F238E27FC236}">
                <a16:creationId xmlns:a16="http://schemas.microsoft.com/office/drawing/2014/main" id="{73A14833-A8C4-485E-8A32-4FA1B66FAFA9}"/>
              </a:ext>
            </a:extLst>
          </p:cNvPr>
          <p:cNvSpPr>
            <a:spLocks xmlns:a="http://schemas.openxmlformats.org/drawingml/2006/main" noGrp="1"/>
          </p:cNvSpPr>
          <p:nvPr/>
        </p:nvSpPr>
        <p:spPr>
          <a:xfrm xmlns:a="http://schemas.openxmlformats.org/drawingml/2006/main">
            <a:off x="6496050" y="2971800"/>
            <a:ext cx="2333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Led platform modernization and workflow-engine improvements while guiding technical direction within the team.</a:t>
            </a:r>
          </a:p>
        </p:txBody>
      </p:sp>
      <p:sp>
        <p:nvSpPr>
          <p:cNvPr id="18" name="">
            <a:extLst xmlns:a="http://schemas.openxmlformats.org/drawingml/2006/main">
              <a:ext uri="{FF2B5EF4-FFF2-40B4-BE49-F238E27FC236}">
                <a16:creationId xmlns:a16="http://schemas.microsoft.com/office/drawing/2014/main" id="{49D67A17-8246-49E8-B891-1AC31D3BB98D}"/>
              </a:ext>
            </a:extLst>
          </p:cNvPr>
          <p:cNvSpPr>
            <a:spLocks xmlns:a="http://schemas.openxmlformats.org/drawingml/2006/main" noGrp="1"/>
          </p:cNvSpPr>
          <p:nvPr/>
        </p:nvSpPr>
        <p:spPr>
          <a:xfrm xmlns:a="http://schemas.openxmlformats.org/drawingml/2006/main">
            <a:off x="9048750" y="1847850"/>
            <a:ext cx="0" cy="24003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19" name="">
            <a:extLst xmlns:a="http://schemas.openxmlformats.org/drawingml/2006/main">
              <a:ext uri="{FF2B5EF4-FFF2-40B4-BE49-F238E27FC236}">
                <a16:creationId xmlns:a16="http://schemas.microsoft.com/office/drawing/2014/main" id="{6939D554-D038-49F4-A303-5B781A09184C}"/>
              </a:ext>
            </a:extLst>
          </p:cNvPr>
          <p:cNvSpPr>
            <a:spLocks xmlns:a="http://schemas.openxmlformats.org/drawingml/2006/main" noGrp="1"/>
          </p:cNvSpPr>
          <p:nvPr/>
        </p:nvSpPr>
        <p:spPr>
          <a:xfrm xmlns:a="http://schemas.openxmlformats.org/drawingml/2006/main">
            <a:off x="9353550" y="18478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2024–Present</a:t>
            </a:r>
          </a:p>
        </p:txBody>
      </p:sp>
      <p:sp>
        <p:nvSpPr>
          <p:cNvPr id="20" name="">
            <a:extLst xmlns:a="http://schemas.openxmlformats.org/drawingml/2006/main">
              <a:ext uri="{FF2B5EF4-FFF2-40B4-BE49-F238E27FC236}">
                <a16:creationId xmlns:a16="http://schemas.microsoft.com/office/drawing/2014/main" id="{06B9DF6F-62DF-4836-A317-2946472BF56C}"/>
              </a:ext>
            </a:extLst>
          </p:cNvPr>
          <p:cNvSpPr>
            <a:spLocks xmlns:a="http://schemas.openxmlformats.org/drawingml/2006/main" noGrp="1"/>
          </p:cNvSpPr>
          <p:nvPr/>
        </p:nvSpPr>
        <p:spPr>
          <a:xfrm xmlns:a="http://schemas.openxmlformats.org/drawingml/2006/main">
            <a:off x="9353550" y="21907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Bank Sinarmas</a:t>
            </a:r>
          </a:p>
        </p:txBody>
      </p:sp>
      <p:sp>
        <p:nvSpPr>
          <p:cNvPr id="21" name="">
            <a:extLst xmlns:a="http://schemas.openxmlformats.org/drawingml/2006/main">
              <a:ext uri="{FF2B5EF4-FFF2-40B4-BE49-F238E27FC236}">
                <a16:creationId xmlns:a16="http://schemas.microsoft.com/office/drawing/2014/main" id="{A25560B6-D750-4A20-8AA2-02580AFCF576}"/>
              </a:ext>
            </a:extLst>
          </p:cNvPr>
          <p:cNvSpPr>
            <a:spLocks xmlns:a="http://schemas.openxmlformats.org/drawingml/2006/main" noGrp="1"/>
          </p:cNvSpPr>
          <p:nvPr/>
        </p:nvSpPr>
        <p:spPr>
          <a:xfrm xmlns:a="http://schemas.openxmlformats.org/drawingml/2006/main">
            <a:off x="9353550" y="2590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59E0B"/>
                </a:solidFill>
                <a:latin typeface="Helvetica Neue"/>
                <a:ea typeface="Helvetica Neue"/>
                <a:cs typeface="Helvetica Neue"/>
              </a:defRPr>
            </a:pPr>
            <a:r>
              <a:rPr sz="1350" b="1">
                <a:solidFill>
                  <a:srgbClr val="F59E0B"/>
                </a:solidFill>
                <a:latin typeface="Helvetica Neue"/>
                <a:ea typeface="Helvetica Neue"/>
                <a:cs typeface="Helvetica Neue"/>
              </a:rPr>
              <a:t>Enterprise systems</a:t>
            </a:r>
          </a:p>
        </p:txBody>
      </p:sp>
      <p:sp>
        <p:nvSpPr>
          <p:cNvPr id="22" name="">
            <a:extLst xmlns:a="http://schemas.openxmlformats.org/drawingml/2006/main">
              <a:ext uri="{FF2B5EF4-FFF2-40B4-BE49-F238E27FC236}">
                <a16:creationId xmlns:a16="http://schemas.microsoft.com/office/drawing/2014/main" id="{032FE13C-5D2F-435A-A684-3C63F14D40B0}"/>
              </a:ext>
            </a:extLst>
          </p:cNvPr>
          <p:cNvSpPr>
            <a:spLocks xmlns:a="http://schemas.openxmlformats.org/drawingml/2006/main" noGrp="1"/>
          </p:cNvSpPr>
          <p:nvPr/>
        </p:nvSpPr>
        <p:spPr>
          <a:xfrm xmlns:a="http://schemas.openxmlformats.org/drawingml/2006/main">
            <a:off x="9353550" y="2971800"/>
            <a:ext cx="2190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Lead architecture and delivery for financial systems, reporting engines, API governance, and engineering standards.</a:t>
            </a:r>
          </a:p>
        </p:txBody>
      </p:sp>
      <p:sp>
        <p:nvSpPr>
          <p:cNvPr id="23" name="">
            <a:extLst xmlns:a="http://schemas.openxmlformats.org/drawingml/2006/main">
              <a:ext uri="{FF2B5EF4-FFF2-40B4-BE49-F238E27FC236}">
                <a16:creationId xmlns:a16="http://schemas.microsoft.com/office/drawing/2014/main" id="{9400CA6E-6AA0-450B-8D91-8ABC4F9ABE19}"/>
              </a:ext>
            </a:extLst>
          </p:cNvPr>
          <p:cNvSpPr>
            <a:spLocks xmlns:a="http://schemas.openxmlformats.org/drawingml/2006/main" noGrp="1"/>
          </p:cNvSpPr>
          <p:nvPr/>
        </p:nvSpPr>
        <p:spPr>
          <a:xfrm xmlns:a="http://schemas.openxmlformats.org/drawingml/2006/main">
            <a:off x="781050" y="4667250"/>
            <a:ext cx="10763250" cy="12573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A118548-F997-4064-B02B-F63DC8383EB0}"/>
              </a:ext>
            </a:extLst>
          </p:cNvPr>
          <p:cNvSpPr>
            <a:spLocks xmlns:a="http://schemas.openxmlformats.org/drawingml/2006/main" noGrp="1"/>
          </p:cNvSpPr>
          <p:nvPr/>
        </p:nvSpPr>
        <p:spPr>
          <a:xfrm xmlns:a="http://schemas.openxmlformats.org/drawingml/2006/main">
            <a:off x="1066800" y="48958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A5B4FC"/>
                </a:solidFill>
                <a:latin typeface="Helvetica Neue"/>
                <a:ea typeface="Helvetica Neue"/>
                <a:cs typeface="Helvetica Neue"/>
              </a:defRPr>
            </a:pPr>
            <a:r>
              <a:rPr sz="1650" b="1">
                <a:solidFill>
                  <a:srgbClr val="A5B4FC"/>
                </a:solidFill>
                <a:latin typeface="Helvetica Neue"/>
                <a:ea typeface="Helvetica Neue"/>
                <a:cs typeface="Helvetica Neue"/>
              </a:rPr>
              <a:t>Why education feels personal</a:t>
            </a:r>
          </a:p>
        </p:txBody>
      </p:sp>
      <p:sp>
        <p:nvSpPr>
          <p:cNvPr id="25" name="">
            <a:extLst xmlns:a="http://schemas.openxmlformats.org/drawingml/2006/main">
              <a:ext uri="{FF2B5EF4-FFF2-40B4-BE49-F238E27FC236}">
                <a16:creationId xmlns:a16="http://schemas.microsoft.com/office/drawing/2014/main" id="{400742A9-248A-4A9D-83D3-FA493FAF1291}"/>
              </a:ext>
            </a:extLst>
          </p:cNvPr>
          <p:cNvSpPr>
            <a:spLocks xmlns:a="http://schemas.openxmlformats.org/drawingml/2006/main" noGrp="1"/>
          </p:cNvSpPr>
          <p:nvPr/>
        </p:nvSpPr>
        <p:spPr>
          <a:xfrm xmlns:a="http://schemas.openxmlformats.org/drawingml/2006/main">
            <a:off x="3886200" y="4876800"/>
            <a:ext cx="723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Ruangguru gave me a direct connection to education. My later roles strengthened the reliability, workflow, and governance skills needed to turn that experience into a useful platform for teachers.</a:t>
            </a:r>
          </a:p>
        </p:txBody>
      </p:sp>
      <p:sp>
        <p:nvSpPr>
          <p:cNvPr id="26" name="">
            <a:extLst xmlns:a="http://schemas.openxmlformats.org/drawingml/2006/main">
              <a:ext uri="{FF2B5EF4-FFF2-40B4-BE49-F238E27FC236}">
                <a16:creationId xmlns:a16="http://schemas.microsoft.com/office/drawing/2014/main" id="{E622C9EA-3CA6-46E4-9583-A503167B7771}"/>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7" name="">
            <a:extLst xmlns:a="http://schemas.openxmlformats.org/drawingml/2006/main">
              <a:ext uri="{FF2B5EF4-FFF2-40B4-BE49-F238E27FC236}">
                <a16:creationId xmlns:a16="http://schemas.microsoft.com/office/drawing/2014/main" id="{CEBCDE18-661D-49AB-8B99-6237DC14BCC4}"/>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03</a:t>
            </a:r>
          </a:p>
        </p:txBody>
      </p:sp>
    </p:spTree>
    <p:extLst>
      <p:ext uri="{BB962C8B-B14F-4D97-AF65-F5344CB8AC3E}">
        <p14:creationId xmlns:p14="http://schemas.microsoft.com/office/powerpoint/2010/main" val="6749778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237EFF2-9634-4956-9F8B-8BE7047321D6}"/>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PROJECT PURPOSE</a:t>
            </a:r>
          </a:p>
        </p:txBody>
      </p:sp>
      <p:sp>
        <p:nvSpPr>
          <p:cNvPr id="2" name="">
            <a:extLst xmlns:a="http://schemas.openxmlformats.org/drawingml/2006/main">
              <a:ext uri="{FF2B5EF4-FFF2-40B4-BE49-F238E27FC236}">
                <a16:creationId xmlns:a16="http://schemas.microsoft.com/office/drawing/2014/main" id="{3F12C8C4-BD19-413A-867D-03DFF4181184}"/>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A practical contribution to education</a:t>
            </a:r>
          </a:p>
        </p:txBody>
      </p:sp>
      <p:sp>
        <p:nvSpPr>
          <p:cNvPr id="3" name="">
            <a:extLst xmlns:a="http://schemas.openxmlformats.org/drawingml/2006/main">
              <a:ext uri="{FF2B5EF4-FFF2-40B4-BE49-F238E27FC236}">
                <a16:creationId xmlns:a16="http://schemas.microsoft.com/office/drawing/2014/main" id="{870DF0ED-B6EB-4098-81CE-AE7F2295D37D}"/>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DAF09DA1-E288-42AD-9800-DE635B91D575}"/>
              </a:ext>
            </a:extLst>
          </p:cNvPr>
          <p:cNvSpPr>
            <a:spLocks xmlns:a="http://schemas.openxmlformats.org/drawingml/2006/main" noGrp="1"/>
          </p:cNvSpPr>
          <p:nvPr/>
        </p:nvSpPr>
        <p:spPr>
          <a:xfrm xmlns:a="http://schemas.openxmlformats.org/drawingml/2006/main">
            <a:off x="857250" y="2095500"/>
            <a:ext cx="81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5755D9"/>
                </a:solidFill>
                <a:latin typeface="Helvetica Neue"/>
                <a:ea typeface="Helvetica Neue"/>
                <a:cs typeface="Helvetica Neue"/>
              </a:defRPr>
            </a:pPr>
            <a:r>
              <a:rPr sz="3450" b="1">
                <a:solidFill>
                  <a:srgbClr val="5755D9"/>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1DBA53D0-A97E-4345-B043-A1682EC73F5D}"/>
              </a:ext>
            </a:extLst>
          </p:cNvPr>
          <p:cNvSpPr>
            <a:spLocks xmlns:a="http://schemas.openxmlformats.org/drawingml/2006/main" noGrp="1"/>
          </p:cNvSpPr>
          <p:nvPr/>
        </p:nvSpPr>
        <p:spPr>
          <a:xfrm xmlns:a="http://schemas.openxmlformats.org/drawingml/2006/main">
            <a:off x="1905000" y="20764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F172A"/>
                </a:solidFill>
                <a:latin typeface="Helvetica Neue"/>
                <a:ea typeface="Helvetica Neue"/>
                <a:cs typeface="Helvetica Neue"/>
              </a:defRPr>
            </a:pPr>
            <a:r>
              <a:rPr sz="2100" b="1">
                <a:solidFill>
                  <a:srgbClr val="0F172A"/>
                </a:solidFill>
                <a:latin typeface="Helvetica Neue"/>
                <a:ea typeface="Helvetica Neue"/>
                <a:cs typeface="Helvetica Neue"/>
              </a:rPr>
              <a:t>Support the education sector</a:t>
            </a:r>
          </a:p>
        </p:txBody>
      </p:sp>
      <p:sp>
        <p:nvSpPr>
          <p:cNvPr id="6" name="">
            <a:extLst xmlns:a="http://schemas.openxmlformats.org/drawingml/2006/main">
              <a:ext uri="{FF2B5EF4-FFF2-40B4-BE49-F238E27FC236}">
                <a16:creationId xmlns:a16="http://schemas.microsoft.com/office/drawing/2014/main" id="{9BC7882B-536D-4404-9AF8-FADF4BA32288}"/>
              </a:ext>
            </a:extLst>
          </p:cNvPr>
          <p:cNvSpPr>
            <a:spLocks xmlns:a="http://schemas.openxmlformats.org/drawingml/2006/main" noGrp="1"/>
          </p:cNvSpPr>
          <p:nvPr/>
        </p:nvSpPr>
        <p:spPr>
          <a:xfrm xmlns:a="http://schemas.openxmlformats.org/drawingml/2006/main">
            <a:off x="1905000" y="2609850"/>
            <a:ext cx="4095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The application is a social contribution that gives teachers a practical way to manage class records, attendance, and reports.</a:t>
            </a:r>
          </a:p>
        </p:txBody>
      </p:sp>
      <p:sp>
        <p:nvSpPr>
          <p:cNvPr id="7" name="">
            <a:extLst xmlns:a="http://schemas.openxmlformats.org/drawingml/2006/main">
              <a:ext uri="{FF2B5EF4-FFF2-40B4-BE49-F238E27FC236}">
                <a16:creationId xmlns:a16="http://schemas.microsoft.com/office/drawing/2014/main" id="{1805DAB1-2E7F-4B4B-AD04-A3AA14540E92}"/>
              </a:ext>
            </a:extLst>
          </p:cNvPr>
          <p:cNvSpPr>
            <a:spLocks xmlns:a="http://schemas.openxmlformats.org/drawingml/2006/main" noGrp="1"/>
          </p:cNvSpPr>
          <p:nvPr/>
        </p:nvSpPr>
        <p:spPr>
          <a:xfrm xmlns:a="http://schemas.openxmlformats.org/drawingml/2006/main">
            <a:off x="6191250" y="2019300"/>
            <a:ext cx="0" cy="253365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8" name="">
            <a:extLst xmlns:a="http://schemas.openxmlformats.org/drawingml/2006/main">
              <a:ext uri="{FF2B5EF4-FFF2-40B4-BE49-F238E27FC236}">
                <a16:creationId xmlns:a16="http://schemas.microsoft.com/office/drawing/2014/main" id="{CA5D00E5-8734-4512-8D19-1D9F2A060908}"/>
              </a:ext>
            </a:extLst>
          </p:cNvPr>
          <p:cNvSpPr>
            <a:spLocks xmlns:a="http://schemas.openxmlformats.org/drawingml/2006/main" noGrp="1"/>
          </p:cNvSpPr>
          <p:nvPr/>
        </p:nvSpPr>
        <p:spPr>
          <a:xfrm xmlns:a="http://schemas.openxmlformats.org/drawingml/2006/main">
            <a:off x="6667500" y="2095500"/>
            <a:ext cx="81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6A34A"/>
                </a:solidFill>
                <a:latin typeface="Helvetica Neue"/>
                <a:ea typeface="Helvetica Neue"/>
                <a:cs typeface="Helvetica Neue"/>
              </a:defRPr>
            </a:pPr>
            <a:r>
              <a:rPr sz="3450" b="1">
                <a:solidFill>
                  <a:srgbClr val="16A34A"/>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581FBE59-C662-4A75-B04C-AF74768FBF60}"/>
              </a:ext>
            </a:extLst>
          </p:cNvPr>
          <p:cNvSpPr>
            <a:spLocks xmlns:a="http://schemas.openxmlformats.org/drawingml/2006/main" noGrp="1"/>
          </p:cNvSpPr>
          <p:nvPr/>
        </p:nvSpPr>
        <p:spPr>
          <a:xfrm xmlns:a="http://schemas.openxmlformats.org/drawingml/2006/main">
            <a:off x="7715250" y="20764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F172A"/>
                </a:solidFill>
                <a:latin typeface="Helvetica Neue"/>
                <a:ea typeface="Helvetica Neue"/>
                <a:cs typeface="Helvetica Neue"/>
              </a:defRPr>
            </a:pPr>
            <a:r>
              <a:rPr sz="2100" b="1">
                <a:solidFill>
                  <a:srgbClr val="0F172A"/>
                </a:solidFill>
                <a:latin typeface="Helvetica Neue"/>
                <a:ea typeface="Helvetica Neue"/>
                <a:cs typeface="Helvetica Neue"/>
              </a:rPr>
              <a:t>Prepare for graduate study</a:t>
            </a:r>
          </a:p>
        </p:txBody>
      </p:sp>
      <p:sp>
        <p:nvSpPr>
          <p:cNvPr id="10" name="">
            <a:extLst xmlns:a="http://schemas.openxmlformats.org/drawingml/2006/main">
              <a:ext uri="{FF2B5EF4-FFF2-40B4-BE49-F238E27FC236}">
                <a16:creationId xmlns:a16="http://schemas.microsoft.com/office/drawing/2014/main" id="{1B3CBB55-5B4B-431B-8F23-AA448EC67DBE}"/>
              </a:ext>
            </a:extLst>
          </p:cNvPr>
          <p:cNvSpPr>
            <a:spLocks xmlns:a="http://schemas.openxmlformats.org/drawingml/2006/main" noGrp="1"/>
          </p:cNvSpPr>
          <p:nvPr/>
        </p:nvSpPr>
        <p:spPr>
          <a:xfrm xmlns:a="http://schemas.openxmlformats.org/drawingml/2006/main">
            <a:off x="7715250" y="2609850"/>
            <a:ext cx="35242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Building a real platform complements my preparation for a master's degree in Machine Learning by strengthening the engineering foundation around data and reliable systems.</a:t>
            </a:r>
          </a:p>
        </p:txBody>
      </p:sp>
      <p:sp>
        <p:nvSpPr>
          <p:cNvPr id="11" name="">
            <a:extLst xmlns:a="http://schemas.openxmlformats.org/drawingml/2006/main">
              <a:ext uri="{FF2B5EF4-FFF2-40B4-BE49-F238E27FC236}">
                <a16:creationId xmlns:a16="http://schemas.microsoft.com/office/drawing/2014/main" id="{0EB157C3-3E8F-44AF-B8EC-4B7122C113A5}"/>
              </a:ext>
            </a:extLst>
          </p:cNvPr>
          <p:cNvSpPr>
            <a:spLocks xmlns:a="http://schemas.openxmlformats.org/drawingml/2006/main" noGrp="1"/>
          </p:cNvSpPr>
          <p:nvPr/>
        </p:nvSpPr>
        <p:spPr>
          <a:xfrm xmlns:a="http://schemas.openxmlformats.org/drawingml/2006/main">
            <a:off x="1047750" y="4857750"/>
            <a:ext cx="10096500" cy="9906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FF5BB7E-D0C7-4493-B860-0738AD0AD8D0}"/>
              </a:ext>
            </a:extLst>
          </p:cNvPr>
          <p:cNvSpPr>
            <a:spLocks xmlns:a="http://schemas.openxmlformats.org/drawingml/2006/main" noGrp="1"/>
          </p:cNvSpPr>
          <p:nvPr/>
        </p:nvSpPr>
        <p:spPr>
          <a:xfrm xmlns:a="http://schemas.openxmlformats.org/drawingml/2006/main">
            <a:off x="1485900" y="514350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Teacher feedback guides the platform while the project connects professional experience, social contribution, and future study.</a:t>
            </a:r>
          </a:p>
        </p:txBody>
      </p:sp>
      <p:sp>
        <p:nvSpPr>
          <p:cNvPr id="13" name="">
            <a:extLst xmlns:a="http://schemas.openxmlformats.org/drawingml/2006/main">
              <a:ext uri="{FF2B5EF4-FFF2-40B4-BE49-F238E27FC236}">
                <a16:creationId xmlns:a16="http://schemas.microsoft.com/office/drawing/2014/main" id="{C4A9331A-498C-4315-9696-40292BFFA11E}"/>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4" name="">
            <a:extLst xmlns:a="http://schemas.openxmlformats.org/drawingml/2006/main">
              <a:ext uri="{FF2B5EF4-FFF2-40B4-BE49-F238E27FC236}">
                <a16:creationId xmlns:a16="http://schemas.microsoft.com/office/drawing/2014/main" id="{2BB444F3-BE4C-4FBD-AA68-698256249DD7}"/>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04</a:t>
            </a:r>
          </a:p>
        </p:txBody>
      </p:sp>
    </p:spTree>
    <p:extLst>
      <p:ext uri="{BB962C8B-B14F-4D97-AF65-F5344CB8AC3E}">
        <p14:creationId xmlns:p14="http://schemas.microsoft.com/office/powerpoint/2010/main" val="7635382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F3ED78B-EB31-4BAB-9A52-912C0CE16CDC}"/>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HIGH-LEVEL ARCHITECTURE</a:t>
            </a:r>
          </a:p>
        </p:txBody>
      </p:sp>
      <p:sp>
        <p:nvSpPr>
          <p:cNvPr id="2" name="">
            <a:extLst xmlns:a="http://schemas.openxmlformats.org/drawingml/2006/main">
              <a:ext uri="{FF2B5EF4-FFF2-40B4-BE49-F238E27FC236}">
                <a16:creationId xmlns:a16="http://schemas.microsoft.com/office/drawing/2014/main" id="{8384D17C-E6F9-40AB-B454-27C1AFDFFE3B}"/>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Platform architecture on GCP</a:t>
            </a:r>
          </a:p>
        </p:txBody>
      </p:sp>
      <p:sp>
        <p:nvSpPr>
          <p:cNvPr id="3" name="">
            <a:extLst xmlns:a="http://schemas.openxmlformats.org/drawingml/2006/main">
              <a:ext uri="{FF2B5EF4-FFF2-40B4-BE49-F238E27FC236}">
                <a16:creationId xmlns:a16="http://schemas.microsoft.com/office/drawing/2014/main" id="{9B4E3792-9FD9-4EA5-B51C-46B2109237CF}"/>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ACAD271B-C6A4-4521-8D35-0921768A9B90}"/>
              </a:ext>
            </a:extLst>
          </p:cNvPr>
          <p:cNvSpPr>
            <a:spLocks xmlns:a="http://schemas.openxmlformats.org/drawingml/2006/main" noGrp="1"/>
          </p:cNvSpPr>
          <p:nvPr/>
        </p:nvSpPr>
        <p:spPr>
          <a:xfrm xmlns:a="http://schemas.openxmlformats.org/drawingml/2006/main">
            <a:off x="2190750" y="3638550"/>
            <a:ext cx="523875" cy="0"/>
          </a:xfrm>
          <a:prstGeom xmlns:a="http://schemas.openxmlformats.org/drawingml/2006/main" prst="line">
            <a:avLst/>
          </a:prstGeom>
          <a:noFill xmlns:a="http://schemas.openxmlformats.org/drawingml/2006/main"/>
          <a:ln xmlns:a="http://schemas.openxmlformats.org/drawingml/2006/main" w="38100">
            <a:solidFill>
              <a:srgbClr val="CBD5E1"/>
            </a:solidFill>
          </a:ln>
        </p:spPr>
      </p:sp>
      <p:sp>
        <p:nvSpPr>
          <p:cNvPr id="5" name="">
            <a:extLst xmlns:a="http://schemas.openxmlformats.org/drawingml/2006/main">
              <a:ext uri="{FF2B5EF4-FFF2-40B4-BE49-F238E27FC236}">
                <a16:creationId xmlns:a16="http://schemas.microsoft.com/office/drawing/2014/main" id="{800D7342-5E8D-4091-B75A-48496DB9EC5C}"/>
              </a:ext>
            </a:extLst>
          </p:cNvPr>
          <p:cNvSpPr>
            <a:spLocks xmlns:a="http://schemas.openxmlformats.org/drawingml/2006/main" noGrp="1"/>
          </p:cNvSpPr>
          <p:nvPr/>
        </p:nvSpPr>
        <p:spPr>
          <a:xfrm xmlns:a="http://schemas.openxmlformats.org/drawingml/2006/main">
            <a:off x="4333875" y="3638550"/>
            <a:ext cx="523875" cy="0"/>
          </a:xfrm>
          <a:prstGeom xmlns:a="http://schemas.openxmlformats.org/drawingml/2006/main" prst="line">
            <a:avLst/>
          </a:prstGeom>
          <a:noFill xmlns:a="http://schemas.openxmlformats.org/drawingml/2006/main"/>
          <a:ln xmlns:a="http://schemas.openxmlformats.org/drawingml/2006/main" w="38100">
            <a:solidFill>
              <a:srgbClr val="CBD5E1"/>
            </a:solidFill>
          </a:ln>
        </p:spPr>
      </p:sp>
      <p:sp>
        <p:nvSpPr>
          <p:cNvPr id="6" name="">
            <a:extLst xmlns:a="http://schemas.openxmlformats.org/drawingml/2006/main">
              <a:ext uri="{FF2B5EF4-FFF2-40B4-BE49-F238E27FC236}">
                <a16:creationId xmlns:a16="http://schemas.microsoft.com/office/drawing/2014/main" id="{AC31F5E8-EEFC-4B70-B9F3-53FF4823A903}"/>
              </a:ext>
            </a:extLst>
          </p:cNvPr>
          <p:cNvSpPr>
            <a:spLocks xmlns:a="http://schemas.openxmlformats.org/drawingml/2006/main" noGrp="1"/>
          </p:cNvSpPr>
          <p:nvPr/>
        </p:nvSpPr>
        <p:spPr>
          <a:xfrm xmlns:a="http://schemas.openxmlformats.org/drawingml/2006/main">
            <a:off x="9048750" y="3638550"/>
            <a:ext cx="523875" cy="0"/>
          </a:xfrm>
          <a:prstGeom xmlns:a="http://schemas.openxmlformats.org/drawingml/2006/main" prst="line">
            <a:avLst/>
          </a:prstGeom>
          <a:noFill xmlns:a="http://schemas.openxmlformats.org/drawingml/2006/main"/>
          <a:ln xmlns:a="http://schemas.openxmlformats.org/drawingml/2006/main" w="38100">
            <a:solidFill>
              <a:srgbClr val="CBD5E1"/>
            </a:solidFill>
          </a:ln>
        </p:spPr>
      </p:sp>
      <p:sp>
        <p:nvSpPr>
          <p:cNvPr id="7" name="">
            <a:extLst xmlns:a="http://schemas.openxmlformats.org/drawingml/2006/main">
              <a:ext uri="{FF2B5EF4-FFF2-40B4-BE49-F238E27FC236}">
                <a16:creationId xmlns:a16="http://schemas.microsoft.com/office/drawing/2014/main" id="{A6A960E9-5864-4BFC-B046-C684D999927C}"/>
              </a:ext>
            </a:extLst>
          </p:cNvPr>
          <p:cNvSpPr>
            <a:spLocks xmlns:a="http://schemas.openxmlformats.org/drawingml/2006/main" noGrp="1"/>
          </p:cNvSpPr>
          <p:nvPr/>
        </p:nvSpPr>
        <p:spPr>
          <a:xfrm xmlns:a="http://schemas.openxmlformats.org/drawingml/2006/main">
            <a:off x="2133600" y="314325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domain lookup</a:t>
            </a:r>
          </a:p>
        </p:txBody>
      </p:sp>
      <p:sp>
        <p:nvSpPr>
          <p:cNvPr id="8" name="">
            <a:extLst xmlns:a="http://schemas.openxmlformats.org/drawingml/2006/main">
              <a:ext uri="{FF2B5EF4-FFF2-40B4-BE49-F238E27FC236}">
                <a16:creationId xmlns:a16="http://schemas.microsoft.com/office/drawing/2014/main" id="{B9305167-DA63-4A15-B5DD-01A849FA37EC}"/>
              </a:ext>
            </a:extLst>
          </p:cNvPr>
          <p:cNvSpPr>
            <a:spLocks xmlns:a="http://schemas.openxmlformats.org/drawingml/2006/main" noGrp="1"/>
          </p:cNvSpPr>
          <p:nvPr/>
        </p:nvSpPr>
        <p:spPr>
          <a:xfrm xmlns:a="http://schemas.openxmlformats.org/drawingml/2006/main">
            <a:off x="4314825" y="3143250"/>
            <a:ext cx="60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HTTPS</a:t>
            </a:r>
          </a:p>
        </p:txBody>
      </p:sp>
      <p:sp>
        <p:nvSpPr>
          <p:cNvPr id="9" name="">
            <a:extLst xmlns:a="http://schemas.openxmlformats.org/drawingml/2006/main">
              <a:ext uri="{FF2B5EF4-FFF2-40B4-BE49-F238E27FC236}">
                <a16:creationId xmlns:a16="http://schemas.microsoft.com/office/drawing/2014/main" id="{6008368E-13D1-4D0D-825D-376E1917D34C}"/>
              </a:ext>
            </a:extLst>
          </p:cNvPr>
          <p:cNvSpPr>
            <a:spLocks xmlns:a="http://schemas.openxmlformats.org/drawingml/2006/main" noGrp="1"/>
          </p:cNvSpPr>
          <p:nvPr/>
        </p:nvSpPr>
        <p:spPr>
          <a:xfrm xmlns:a="http://schemas.openxmlformats.org/drawingml/2006/main">
            <a:off x="9124950" y="31432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DB</a:t>
            </a:r>
          </a:p>
        </p:txBody>
      </p:sp>
      <p:sp>
        <p:nvSpPr>
          <p:cNvPr id="10" name="">
            <a:extLst xmlns:a="http://schemas.openxmlformats.org/drawingml/2006/main">
              <a:ext uri="{FF2B5EF4-FFF2-40B4-BE49-F238E27FC236}">
                <a16:creationId xmlns:a16="http://schemas.microsoft.com/office/drawing/2014/main" id="{4A3A4720-8DD8-44B0-9D52-E37A089D82AB}"/>
              </a:ext>
            </a:extLst>
          </p:cNvPr>
          <p:cNvSpPr>
            <a:spLocks xmlns:a="http://schemas.openxmlformats.org/drawingml/2006/main" noGrp="1"/>
          </p:cNvSpPr>
          <p:nvPr/>
        </p:nvSpPr>
        <p:spPr>
          <a:xfrm xmlns:a="http://schemas.openxmlformats.org/drawingml/2006/main">
            <a:off x="762000" y="2857500"/>
            <a:ext cx="1428750" cy="1562100"/>
          </a:xfrm>
          <a:prstGeom xmlns:a="http://schemas.openxmlformats.org/drawingml/2006/main" prst="roundRect">
            <a:avLst>
              <a:gd name="adj" fmla="val 5333"/>
            </a:avLst>
          </a:prstGeom>
          <a:solidFill xmlns:a="http://schemas.openxmlformats.org/drawingml/2006/main">
            <a:srgbClr val="0F172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D917A80-1C19-4DE1-94CF-3175242E89D3}"/>
              </a:ext>
            </a:extLst>
          </p:cNvPr>
          <p:cNvSpPr>
            <a:spLocks xmlns:a="http://schemas.openxmlformats.org/drawingml/2006/main" noGrp="1"/>
          </p:cNvSpPr>
          <p:nvPr/>
        </p:nvSpPr>
        <p:spPr>
          <a:xfrm xmlns:a="http://schemas.openxmlformats.org/drawingml/2006/main">
            <a:off x="933450" y="3295650"/>
            <a:ext cx="1085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Teachers and</a:t>
            </a:r>
          </a:p>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school staff</a:t>
            </a:r>
          </a:p>
        </p:txBody>
      </p:sp>
      <p:sp>
        <p:nvSpPr>
          <p:cNvPr id="12" name="">
            <a:extLst xmlns:a="http://schemas.openxmlformats.org/drawingml/2006/main">
              <a:ext uri="{FF2B5EF4-FFF2-40B4-BE49-F238E27FC236}">
                <a16:creationId xmlns:a16="http://schemas.microsoft.com/office/drawing/2014/main" id="{9DC41ACE-F8AD-4895-836A-445EF819CEEF}"/>
              </a:ext>
            </a:extLst>
          </p:cNvPr>
          <p:cNvSpPr>
            <a:spLocks xmlns:a="http://schemas.openxmlformats.org/drawingml/2006/main" noGrp="1"/>
          </p:cNvSpPr>
          <p:nvPr/>
        </p:nvSpPr>
        <p:spPr>
          <a:xfrm xmlns:a="http://schemas.openxmlformats.org/drawingml/2006/main">
            <a:off x="2714625" y="2857500"/>
            <a:ext cx="1619250" cy="1562100"/>
          </a:xfrm>
          <a:prstGeom xmlns:a="http://schemas.openxmlformats.org/drawingml/2006/main" prst="roundRect">
            <a:avLst>
              <a:gd name="adj" fmla="val 4878"/>
            </a:avLst>
          </a:prstGeom>
          <a:solidFill xmlns:a="http://schemas.openxmlformats.org/drawingml/2006/main">
            <a:srgbClr val="F1F5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54F832B-0245-46FC-9746-69DD4F5B3414}"/>
              </a:ext>
            </a:extLst>
          </p:cNvPr>
          <p:cNvSpPr>
            <a:spLocks xmlns:a="http://schemas.openxmlformats.org/drawingml/2006/main" noGrp="1"/>
          </p:cNvSpPr>
          <p:nvPr/>
        </p:nvSpPr>
        <p:spPr>
          <a:xfrm xmlns:a="http://schemas.openxmlformats.org/drawingml/2006/main">
            <a:off x="2952750" y="325755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5755D9"/>
                </a:solidFill>
                <a:latin typeface="Helvetica Neue"/>
                <a:ea typeface="Helvetica Neue"/>
                <a:cs typeface="Helvetica Neue"/>
              </a:defRPr>
            </a:pPr>
            <a:r>
              <a:rPr sz="1650" b="1">
                <a:solidFill>
                  <a:srgbClr val="5755D9"/>
                </a:solidFill>
                <a:latin typeface="Helvetica Neue"/>
                <a:ea typeface="Helvetica Neue"/>
                <a:cs typeface="Helvetica Neue"/>
              </a:rPr>
              <a:t>Cloud DNS</a:t>
            </a:r>
          </a:p>
        </p:txBody>
      </p:sp>
      <p:sp>
        <p:nvSpPr>
          <p:cNvPr id="14" name="">
            <a:extLst xmlns:a="http://schemas.openxmlformats.org/drawingml/2006/main">
              <a:ext uri="{FF2B5EF4-FFF2-40B4-BE49-F238E27FC236}">
                <a16:creationId xmlns:a16="http://schemas.microsoft.com/office/drawing/2014/main" id="{47943355-F9F2-49CB-98D8-CD6AB9054FA4}"/>
              </a:ext>
            </a:extLst>
          </p:cNvPr>
          <p:cNvSpPr>
            <a:spLocks xmlns:a="http://schemas.openxmlformats.org/drawingml/2006/main" noGrp="1"/>
          </p:cNvSpPr>
          <p:nvPr/>
        </p:nvSpPr>
        <p:spPr>
          <a:xfrm xmlns:a="http://schemas.openxmlformats.org/drawingml/2006/main">
            <a:off x="2952750" y="3733800"/>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School domain</a:t>
            </a:r>
          </a:p>
        </p:txBody>
      </p:sp>
      <p:sp>
        <p:nvSpPr>
          <p:cNvPr id="15" name="">
            <a:extLst xmlns:a="http://schemas.openxmlformats.org/drawingml/2006/main">
              <a:ext uri="{FF2B5EF4-FFF2-40B4-BE49-F238E27FC236}">
                <a16:creationId xmlns:a16="http://schemas.microsoft.com/office/drawing/2014/main" id="{B23AF12A-E7C3-4661-BC09-E805092DAEC3}"/>
              </a:ext>
            </a:extLst>
          </p:cNvPr>
          <p:cNvSpPr>
            <a:spLocks xmlns:a="http://schemas.openxmlformats.org/drawingml/2006/main" noGrp="1"/>
          </p:cNvSpPr>
          <p:nvPr/>
        </p:nvSpPr>
        <p:spPr>
          <a:xfrm xmlns:a="http://schemas.openxmlformats.org/drawingml/2006/main">
            <a:off x="4857750" y="2019300"/>
            <a:ext cx="4191000" cy="3333750"/>
          </a:xfrm>
          <a:prstGeom xmlns:a="http://schemas.openxmlformats.org/drawingml/2006/main" prst="rect">
            <a:avLst/>
          </a:prstGeom>
          <a:solidFill xmlns:a="http://schemas.openxmlformats.org/drawingml/2006/main">
            <a:srgbClr val="F1F5F9"/>
          </a:solidFill>
          <a:ln xmlns:a="http://schemas.openxmlformats.org/drawingml/2006/main" w="9525">
            <a:solidFill>
              <a:srgbClr val="CBD5E1"/>
            </a:solidFill>
          </a:ln>
        </p:spPr>
      </p:sp>
      <p:sp>
        <p:nvSpPr>
          <p:cNvPr id="16" name="">
            <a:extLst xmlns:a="http://schemas.openxmlformats.org/drawingml/2006/main">
              <a:ext uri="{FF2B5EF4-FFF2-40B4-BE49-F238E27FC236}">
                <a16:creationId xmlns:a16="http://schemas.microsoft.com/office/drawing/2014/main" id="{1991AA89-0B7D-40DA-819E-2CFEF2C7420A}"/>
              </a:ext>
            </a:extLst>
          </p:cNvPr>
          <p:cNvSpPr>
            <a:spLocks xmlns:a="http://schemas.openxmlformats.org/drawingml/2006/main" noGrp="1"/>
          </p:cNvSpPr>
          <p:nvPr/>
        </p:nvSpPr>
        <p:spPr>
          <a:xfrm xmlns:a="http://schemas.openxmlformats.org/drawingml/2006/main">
            <a:off x="5143500" y="22288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GCP Spot VM</a:t>
            </a:r>
          </a:p>
        </p:txBody>
      </p:sp>
      <p:sp>
        <p:nvSpPr>
          <p:cNvPr id="17" name="">
            <a:extLst xmlns:a="http://schemas.openxmlformats.org/drawingml/2006/main">
              <a:ext uri="{FF2B5EF4-FFF2-40B4-BE49-F238E27FC236}">
                <a16:creationId xmlns:a16="http://schemas.microsoft.com/office/drawing/2014/main" id="{AF6E2A0B-ADF3-4C59-BCDE-03A3019DF24D}"/>
              </a:ext>
            </a:extLst>
          </p:cNvPr>
          <p:cNvSpPr>
            <a:spLocks xmlns:a="http://schemas.openxmlformats.org/drawingml/2006/main" noGrp="1"/>
          </p:cNvSpPr>
          <p:nvPr/>
        </p:nvSpPr>
        <p:spPr>
          <a:xfrm xmlns:a="http://schemas.openxmlformats.org/drawingml/2006/main">
            <a:off x="5143500" y="259080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64748B"/>
                </a:solidFill>
                <a:latin typeface="Helvetica Neue"/>
                <a:ea typeface="Helvetica Neue"/>
                <a:cs typeface="Helvetica Neue"/>
              </a:defRPr>
            </a:pPr>
            <a:r>
              <a:rPr sz="1125" b="1">
                <a:solidFill>
                  <a:srgbClr val="64748B"/>
                </a:solidFill>
                <a:latin typeface="Helvetica Neue"/>
                <a:ea typeface="Helvetica Neue"/>
                <a:cs typeface="Helvetica Neue"/>
              </a:rPr>
              <a:t>2 vCPU / 1 GB RAM / 20 GB standard disk</a:t>
            </a:r>
          </a:p>
        </p:txBody>
      </p:sp>
      <p:sp>
        <p:nvSpPr>
          <p:cNvPr id="18" name="">
            <a:extLst xmlns:a="http://schemas.openxmlformats.org/drawingml/2006/main">
              <a:ext uri="{FF2B5EF4-FFF2-40B4-BE49-F238E27FC236}">
                <a16:creationId xmlns:a16="http://schemas.microsoft.com/office/drawing/2014/main" id="{5336F6DA-258C-4750-829F-6BB34E2F64C6}"/>
              </a:ext>
            </a:extLst>
          </p:cNvPr>
          <p:cNvSpPr>
            <a:spLocks xmlns:a="http://schemas.openxmlformats.org/drawingml/2006/main" noGrp="1"/>
          </p:cNvSpPr>
          <p:nvPr/>
        </p:nvSpPr>
        <p:spPr>
          <a:xfrm xmlns:a="http://schemas.openxmlformats.org/drawingml/2006/main">
            <a:off x="5191125" y="3048000"/>
            <a:ext cx="3524250" cy="6096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D518227-FFE1-4190-AEDB-9910D7A90908}"/>
              </a:ext>
            </a:extLst>
          </p:cNvPr>
          <p:cNvSpPr>
            <a:spLocks xmlns:a="http://schemas.openxmlformats.org/drawingml/2006/main" noGrp="1"/>
          </p:cNvSpPr>
          <p:nvPr/>
        </p:nvSpPr>
        <p:spPr>
          <a:xfrm xmlns:a="http://schemas.openxmlformats.org/drawingml/2006/main">
            <a:off x="5391150" y="32194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Nginx reverse proxy and TLS</a:t>
            </a:r>
          </a:p>
        </p:txBody>
      </p:sp>
      <p:sp>
        <p:nvSpPr>
          <p:cNvPr id="20" name="">
            <a:extLst xmlns:a="http://schemas.openxmlformats.org/drawingml/2006/main">
              <a:ext uri="{FF2B5EF4-FFF2-40B4-BE49-F238E27FC236}">
                <a16:creationId xmlns:a16="http://schemas.microsoft.com/office/drawing/2014/main" id="{4A2ED073-09CE-480F-9909-E16712BC8648}"/>
              </a:ext>
            </a:extLst>
          </p:cNvPr>
          <p:cNvSpPr>
            <a:spLocks xmlns:a="http://schemas.openxmlformats.org/drawingml/2006/main" noGrp="1"/>
          </p:cNvSpPr>
          <p:nvPr/>
        </p:nvSpPr>
        <p:spPr>
          <a:xfrm xmlns:a="http://schemas.openxmlformats.org/drawingml/2006/main">
            <a:off x="5191125" y="3848100"/>
            <a:ext cx="35242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ln>
        </p:spPr>
      </p:sp>
      <p:sp>
        <p:nvSpPr>
          <p:cNvPr id="21" name="">
            <a:extLst xmlns:a="http://schemas.openxmlformats.org/drawingml/2006/main">
              <a:ext uri="{FF2B5EF4-FFF2-40B4-BE49-F238E27FC236}">
                <a16:creationId xmlns:a16="http://schemas.microsoft.com/office/drawing/2014/main" id="{1965C320-B756-4289-8863-45D3BB108D9C}"/>
              </a:ext>
            </a:extLst>
          </p:cNvPr>
          <p:cNvSpPr>
            <a:spLocks xmlns:a="http://schemas.openxmlformats.org/drawingml/2006/main" noGrp="1"/>
          </p:cNvSpPr>
          <p:nvPr/>
        </p:nvSpPr>
        <p:spPr>
          <a:xfrm xmlns:a="http://schemas.openxmlformats.org/drawingml/2006/main">
            <a:off x="5391150" y="40005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5755D9"/>
                </a:solidFill>
                <a:latin typeface="Helvetica Neue"/>
                <a:ea typeface="Helvetica Neue"/>
                <a:cs typeface="Helvetica Neue"/>
              </a:defRPr>
            </a:pPr>
            <a:r>
              <a:rPr sz="1350" b="1">
                <a:solidFill>
                  <a:srgbClr val="5755D9"/>
                </a:solidFill>
                <a:latin typeface="Helvetica Neue"/>
                <a:ea typeface="Helvetica Neue"/>
                <a:cs typeface="Helvetica Neue"/>
              </a:rPr>
              <a:t>Docker Compose application stack</a:t>
            </a:r>
          </a:p>
        </p:txBody>
      </p:sp>
      <p:sp>
        <p:nvSpPr>
          <p:cNvPr id="22" name="">
            <a:extLst xmlns:a="http://schemas.openxmlformats.org/drawingml/2006/main">
              <a:ext uri="{FF2B5EF4-FFF2-40B4-BE49-F238E27FC236}">
                <a16:creationId xmlns:a16="http://schemas.microsoft.com/office/drawing/2014/main" id="{AE304E4F-456C-405B-9538-D60FB49D4D30}"/>
              </a:ext>
            </a:extLst>
          </p:cNvPr>
          <p:cNvSpPr>
            <a:spLocks xmlns:a="http://schemas.openxmlformats.org/drawingml/2006/main" noGrp="1"/>
          </p:cNvSpPr>
          <p:nvPr/>
        </p:nvSpPr>
        <p:spPr>
          <a:xfrm xmlns:a="http://schemas.openxmlformats.org/drawingml/2006/main">
            <a:off x="5391150" y="43815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E293B"/>
                </a:solidFill>
                <a:latin typeface="Helvetica Neue"/>
                <a:ea typeface="Helvetica Neue"/>
                <a:cs typeface="Helvetica Neue"/>
              </a:defRPr>
            </a:pPr>
            <a:r>
              <a:rPr sz="1200" b="0">
                <a:solidFill>
                  <a:srgbClr val="1E293B"/>
                </a:solidFill>
                <a:latin typeface="Helvetica Neue"/>
                <a:ea typeface="Helvetica Neue"/>
                <a:cs typeface="Helvetica Neue"/>
              </a:rPr>
              <a:t>School UI</a:t>
            </a:r>
          </a:p>
          <a:p xmlns:a="http://schemas.openxmlformats.org/drawingml/2006/main">
            <a:pPr algn="ctr">
              <a:defRPr sz="1200" b="0">
                <a:solidFill>
                  <a:srgbClr val="1E293B"/>
                </a:solidFill>
                <a:latin typeface="Helvetica Neue"/>
                <a:ea typeface="Helvetica Neue"/>
                <a:cs typeface="Helvetica Neue"/>
              </a:defRPr>
            </a:pPr>
            <a:r>
              <a:rPr sz="1200" b="0">
                <a:solidFill>
                  <a:srgbClr val="1E293B"/>
                </a:solidFill>
                <a:latin typeface="Helvetica Neue"/>
                <a:ea typeface="Helvetica Neue"/>
                <a:cs typeface="Helvetica Neue"/>
              </a:rPr>
              <a:t>Administration API and User API</a:t>
            </a:r>
          </a:p>
        </p:txBody>
      </p:sp>
      <p:sp>
        <p:nvSpPr>
          <p:cNvPr id="23" name="">
            <a:extLst xmlns:a="http://schemas.openxmlformats.org/drawingml/2006/main">
              <a:ext uri="{FF2B5EF4-FFF2-40B4-BE49-F238E27FC236}">
                <a16:creationId xmlns:a16="http://schemas.microsoft.com/office/drawing/2014/main" id="{DA344A97-5FF4-4251-B5EC-9C04B1B9DC7C}"/>
              </a:ext>
            </a:extLst>
          </p:cNvPr>
          <p:cNvSpPr>
            <a:spLocks xmlns:a="http://schemas.openxmlformats.org/drawingml/2006/main" noGrp="1"/>
          </p:cNvSpPr>
          <p:nvPr/>
        </p:nvSpPr>
        <p:spPr>
          <a:xfrm xmlns:a="http://schemas.openxmlformats.org/drawingml/2006/main">
            <a:off x="9572625" y="2705100"/>
            <a:ext cx="1857375" cy="1866900"/>
          </a:xfrm>
          <a:prstGeom xmlns:a="http://schemas.openxmlformats.org/drawingml/2006/main" prst="roundRect">
            <a:avLst>
              <a:gd name="adj" fmla="val 4103"/>
            </a:avLst>
          </a:prstGeom>
          <a:solidFill xmlns:a="http://schemas.openxmlformats.org/drawingml/2006/main">
            <a:srgbClr val="0F172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614B2A3-A724-4B69-AFD0-41F84F934D2A}"/>
              </a:ext>
            </a:extLst>
          </p:cNvPr>
          <p:cNvSpPr>
            <a:spLocks xmlns:a="http://schemas.openxmlformats.org/drawingml/2006/main" noGrp="1"/>
          </p:cNvSpPr>
          <p:nvPr/>
        </p:nvSpPr>
        <p:spPr>
          <a:xfrm xmlns:a="http://schemas.openxmlformats.org/drawingml/2006/main">
            <a:off x="9696450" y="3048000"/>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CockroachDB</a:t>
            </a:r>
          </a:p>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Cloud</a:t>
            </a:r>
          </a:p>
        </p:txBody>
      </p:sp>
      <p:sp>
        <p:nvSpPr>
          <p:cNvPr id="25" name="">
            <a:extLst xmlns:a="http://schemas.openxmlformats.org/drawingml/2006/main">
              <a:ext uri="{FF2B5EF4-FFF2-40B4-BE49-F238E27FC236}">
                <a16:creationId xmlns:a16="http://schemas.microsoft.com/office/drawing/2014/main" id="{C27E0FE0-98E6-450B-9BFE-4BE08D8579C5}"/>
              </a:ext>
            </a:extLst>
          </p:cNvPr>
          <p:cNvSpPr>
            <a:spLocks xmlns:a="http://schemas.openxmlformats.org/drawingml/2006/main" noGrp="1"/>
          </p:cNvSpPr>
          <p:nvPr/>
        </p:nvSpPr>
        <p:spPr>
          <a:xfrm xmlns:a="http://schemas.openxmlformats.org/drawingml/2006/main">
            <a:off x="9696450" y="3829050"/>
            <a:ext cx="161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050" b="0">
                <a:solidFill>
                  <a:srgbClr val="CBD5E1"/>
                </a:solidFill>
                <a:latin typeface="Helvetica Neue"/>
                <a:ea typeface="Helvetica Neue"/>
                <a:cs typeface="Helvetica Neue"/>
              </a:defRPr>
            </a:pPr>
            <a:r>
              <a:rPr sz="1050" b="0">
                <a:solidFill>
                  <a:srgbClr val="CBD5E1"/>
                </a:solidFill>
                <a:latin typeface="Helvetica Neue"/>
                <a:ea typeface="Helvetica Neue"/>
                <a:cs typeface="Helvetica Neue"/>
              </a:rPr>
              <a:t>school_administration</a:t>
            </a:r>
          </a:p>
          <a:p xmlns:a="http://schemas.openxmlformats.org/drawingml/2006/main">
            <a:pPr algn="ctr">
              <a:defRPr sz="1050" b="0">
                <a:solidFill>
                  <a:srgbClr val="CBD5E1"/>
                </a:solidFill>
                <a:latin typeface="Helvetica Neue"/>
                <a:ea typeface="Helvetica Neue"/>
                <a:cs typeface="Helvetica Neue"/>
              </a:defRPr>
            </a:pPr>
            <a:r>
              <a:rPr sz="1050" b="0">
                <a:solidFill>
                  <a:srgbClr val="CBD5E1"/>
                </a:solidFill>
                <a:latin typeface="Helvetica Neue"/>
                <a:ea typeface="Helvetica Neue"/>
                <a:cs typeface="Helvetica Neue"/>
              </a:rPr>
              <a:t>school_user</a:t>
            </a:r>
          </a:p>
        </p:txBody>
      </p:sp>
      <p:sp>
        <p:nvSpPr>
          <p:cNvPr id="26" name="">
            <a:extLst xmlns:a="http://schemas.openxmlformats.org/drawingml/2006/main">
              <a:ext uri="{FF2B5EF4-FFF2-40B4-BE49-F238E27FC236}">
                <a16:creationId xmlns:a16="http://schemas.microsoft.com/office/drawing/2014/main" id="{F1C1FDEF-BF30-4B4D-B330-E853374B9CEC}"/>
              </a:ext>
            </a:extLst>
          </p:cNvPr>
          <p:cNvSpPr>
            <a:spLocks xmlns:a="http://schemas.openxmlformats.org/drawingml/2006/main" noGrp="1"/>
          </p:cNvSpPr>
          <p:nvPr/>
        </p:nvSpPr>
        <p:spPr>
          <a:xfrm xmlns:a="http://schemas.openxmlformats.org/drawingml/2006/main">
            <a:off x="1143000" y="5676900"/>
            <a:ext cx="990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Cloud DNS resolves the domain. Nginx receives HTTPS traffic and routes it to the application containers. The APIs connect to CockroachDB Cloud.</a:t>
            </a:r>
          </a:p>
        </p:txBody>
      </p:sp>
      <p:sp>
        <p:nvSpPr>
          <p:cNvPr id="27" name="">
            <a:extLst xmlns:a="http://schemas.openxmlformats.org/drawingml/2006/main">
              <a:ext uri="{FF2B5EF4-FFF2-40B4-BE49-F238E27FC236}">
                <a16:creationId xmlns:a16="http://schemas.microsoft.com/office/drawing/2014/main" id="{CD0385A7-7858-43CC-9E6C-362B80F5DF36}"/>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8" name="">
            <a:extLst xmlns:a="http://schemas.openxmlformats.org/drawingml/2006/main">
              <a:ext uri="{FF2B5EF4-FFF2-40B4-BE49-F238E27FC236}">
                <a16:creationId xmlns:a16="http://schemas.microsoft.com/office/drawing/2014/main" id="{55C8D338-7D9E-4441-923E-BD452071E77B}"/>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05</a:t>
            </a:r>
          </a:p>
        </p:txBody>
      </p:sp>
    </p:spTree>
    <p:extLst>
      <p:ext uri="{BB962C8B-B14F-4D97-AF65-F5344CB8AC3E}">
        <p14:creationId xmlns:p14="http://schemas.microsoft.com/office/powerpoint/2010/main" val="14251455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C02355C-A117-480D-9A07-DDD98D540A5D}"/>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WHY THIS APPLICATION HELPS</a:t>
            </a:r>
          </a:p>
        </p:txBody>
      </p:sp>
      <p:sp>
        <p:nvSpPr>
          <p:cNvPr id="2" name="">
            <a:extLst xmlns:a="http://schemas.openxmlformats.org/drawingml/2006/main">
              <a:ext uri="{FF2B5EF4-FFF2-40B4-BE49-F238E27FC236}">
                <a16:creationId xmlns:a16="http://schemas.microsoft.com/office/drawing/2014/main" id="{587B1987-6331-4B02-B0E3-9D225757D98E}"/>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One workflow for classroom administration</a:t>
            </a:r>
          </a:p>
        </p:txBody>
      </p:sp>
      <p:sp>
        <p:nvSpPr>
          <p:cNvPr id="3" name="">
            <a:extLst xmlns:a="http://schemas.openxmlformats.org/drawingml/2006/main">
              <a:ext uri="{FF2B5EF4-FFF2-40B4-BE49-F238E27FC236}">
                <a16:creationId xmlns:a16="http://schemas.microsoft.com/office/drawing/2014/main" id="{71CB7533-8402-4DAF-B6C8-7F06D2727282}"/>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76502833-6520-4569-98C0-479F93F6F6DD}"/>
              </a:ext>
            </a:extLst>
          </p:cNvPr>
          <p:cNvSpPr>
            <a:spLocks xmlns:a="http://schemas.openxmlformats.org/drawingml/2006/main" noGrp="1"/>
          </p:cNvSpPr>
          <p:nvPr/>
        </p:nvSpPr>
        <p:spPr>
          <a:xfrm xmlns:a="http://schemas.openxmlformats.org/drawingml/2006/main">
            <a:off x="838200" y="196215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5755D9"/>
                </a:solidFill>
                <a:latin typeface="Helvetica Neue"/>
                <a:ea typeface="Helvetica Neue"/>
                <a:cs typeface="Helvetica Neue"/>
              </a:defRPr>
            </a:pPr>
            <a:r>
              <a:rPr sz="3450" b="1">
                <a:solidFill>
                  <a:srgbClr val="5755D9"/>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09FF514C-2C7F-45FF-8609-31D2254BABB0}"/>
              </a:ext>
            </a:extLst>
          </p:cNvPr>
          <p:cNvSpPr>
            <a:spLocks xmlns:a="http://schemas.openxmlformats.org/drawingml/2006/main" noGrp="1"/>
          </p:cNvSpPr>
          <p:nvPr/>
        </p:nvSpPr>
        <p:spPr>
          <a:xfrm xmlns:a="http://schemas.openxmlformats.org/drawingml/2006/main">
            <a:off x="1952625" y="19431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Prepare class records</a:t>
            </a:r>
          </a:p>
        </p:txBody>
      </p:sp>
      <p:sp>
        <p:nvSpPr>
          <p:cNvPr id="6" name="">
            <a:extLst xmlns:a="http://schemas.openxmlformats.org/drawingml/2006/main">
              <a:ext uri="{FF2B5EF4-FFF2-40B4-BE49-F238E27FC236}">
                <a16:creationId xmlns:a16="http://schemas.microsoft.com/office/drawing/2014/main" id="{A918925E-3A40-4C66-8BA0-DE557ED3F80E}"/>
              </a:ext>
            </a:extLst>
          </p:cNvPr>
          <p:cNvSpPr>
            <a:spLocks xmlns:a="http://schemas.openxmlformats.org/drawingml/2006/main" noGrp="1"/>
          </p:cNvSpPr>
          <p:nvPr/>
        </p:nvSpPr>
        <p:spPr>
          <a:xfrm xmlns:a="http://schemas.openxmlformats.org/drawingml/2006/main">
            <a:off x="1952625" y="238125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Academic years, attendance types, students, and class assignments become the starting records.</a:t>
            </a:r>
          </a:p>
        </p:txBody>
      </p:sp>
      <p:sp>
        <p:nvSpPr>
          <p:cNvPr id="7" name="">
            <a:extLst xmlns:a="http://schemas.openxmlformats.org/drawingml/2006/main">
              <a:ext uri="{FF2B5EF4-FFF2-40B4-BE49-F238E27FC236}">
                <a16:creationId xmlns:a16="http://schemas.microsoft.com/office/drawing/2014/main" id="{8DCDD725-0A2F-4074-9F0E-28E77A886D2C}"/>
              </a:ext>
            </a:extLst>
          </p:cNvPr>
          <p:cNvSpPr>
            <a:spLocks xmlns:a="http://schemas.openxmlformats.org/drawingml/2006/main" noGrp="1"/>
          </p:cNvSpPr>
          <p:nvPr/>
        </p:nvSpPr>
        <p:spPr>
          <a:xfrm xmlns:a="http://schemas.openxmlformats.org/drawingml/2006/main">
            <a:off x="838200" y="310515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8" name="">
            <a:extLst xmlns:a="http://schemas.openxmlformats.org/drawingml/2006/main">
              <a:ext uri="{FF2B5EF4-FFF2-40B4-BE49-F238E27FC236}">
                <a16:creationId xmlns:a16="http://schemas.microsoft.com/office/drawing/2014/main" id="{E49EF3CB-7564-4DF5-968E-FECBA8E75593}"/>
              </a:ext>
            </a:extLst>
          </p:cNvPr>
          <p:cNvSpPr>
            <a:spLocks xmlns:a="http://schemas.openxmlformats.org/drawingml/2006/main" noGrp="1"/>
          </p:cNvSpPr>
          <p:nvPr/>
        </p:nvSpPr>
        <p:spPr>
          <a:xfrm xmlns:a="http://schemas.openxmlformats.org/drawingml/2006/main">
            <a:off x="838200" y="342900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2563EB"/>
                </a:solidFill>
                <a:latin typeface="Helvetica Neue"/>
                <a:ea typeface="Helvetica Neue"/>
                <a:cs typeface="Helvetica Neue"/>
              </a:defRPr>
            </a:pPr>
            <a:r>
              <a:rPr sz="3450" b="1">
                <a:solidFill>
                  <a:srgbClr val="2563EB"/>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49BDB0F6-27BF-4ADB-B33E-ABD3009AD369}"/>
              </a:ext>
            </a:extLst>
          </p:cNvPr>
          <p:cNvSpPr>
            <a:spLocks xmlns:a="http://schemas.openxmlformats.org/drawingml/2006/main" noGrp="1"/>
          </p:cNvSpPr>
          <p:nvPr/>
        </p:nvSpPr>
        <p:spPr>
          <a:xfrm xmlns:a="http://schemas.openxmlformats.org/drawingml/2006/main">
            <a:off x="1952625" y="34099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Record attendance</a:t>
            </a:r>
          </a:p>
        </p:txBody>
      </p:sp>
      <p:sp>
        <p:nvSpPr>
          <p:cNvPr id="10" name="">
            <a:extLst xmlns:a="http://schemas.openxmlformats.org/drawingml/2006/main">
              <a:ext uri="{FF2B5EF4-FFF2-40B4-BE49-F238E27FC236}">
                <a16:creationId xmlns:a16="http://schemas.microsoft.com/office/drawing/2014/main" id="{0DF29040-55EE-4757-9B25-5AC42F459E9C}"/>
              </a:ext>
            </a:extLst>
          </p:cNvPr>
          <p:cNvSpPr>
            <a:spLocks xmlns:a="http://schemas.openxmlformats.org/drawingml/2006/main" noGrp="1"/>
          </p:cNvSpPr>
          <p:nvPr/>
        </p:nvSpPr>
        <p:spPr>
          <a:xfrm xmlns:a="http://schemas.openxmlformats.org/drawingml/2006/main">
            <a:off x="1952625" y="384810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Teachers select the academic year, class, and date before opening the student list.</a:t>
            </a:r>
          </a:p>
        </p:txBody>
      </p:sp>
      <p:sp>
        <p:nvSpPr>
          <p:cNvPr id="11" name="">
            <a:extLst xmlns:a="http://schemas.openxmlformats.org/drawingml/2006/main">
              <a:ext uri="{FF2B5EF4-FFF2-40B4-BE49-F238E27FC236}">
                <a16:creationId xmlns:a16="http://schemas.microsoft.com/office/drawing/2014/main" id="{F0C9732A-A1EE-435E-8112-42C9B23F1742}"/>
              </a:ext>
            </a:extLst>
          </p:cNvPr>
          <p:cNvSpPr>
            <a:spLocks xmlns:a="http://schemas.openxmlformats.org/drawingml/2006/main" noGrp="1"/>
          </p:cNvSpPr>
          <p:nvPr/>
        </p:nvSpPr>
        <p:spPr>
          <a:xfrm xmlns:a="http://schemas.openxmlformats.org/drawingml/2006/main">
            <a:off x="838200" y="457200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12" name="">
            <a:extLst xmlns:a="http://schemas.openxmlformats.org/drawingml/2006/main">
              <a:ext uri="{FF2B5EF4-FFF2-40B4-BE49-F238E27FC236}">
                <a16:creationId xmlns:a16="http://schemas.microsoft.com/office/drawing/2014/main" id="{5F27389D-688A-409C-B2D8-5F2C9B51864E}"/>
              </a:ext>
            </a:extLst>
          </p:cNvPr>
          <p:cNvSpPr>
            <a:spLocks xmlns:a="http://schemas.openxmlformats.org/drawingml/2006/main" noGrp="1"/>
          </p:cNvSpPr>
          <p:nvPr/>
        </p:nvSpPr>
        <p:spPr>
          <a:xfrm xmlns:a="http://schemas.openxmlformats.org/drawingml/2006/main">
            <a:off x="838200" y="4895850"/>
            <a:ext cx="876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16A34A"/>
                </a:solidFill>
                <a:latin typeface="Helvetica Neue"/>
                <a:ea typeface="Helvetica Neue"/>
                <a:cs typeface="Helvetica Neue"/>
              </a:defRPr>
            </a:pPr>
            <a:r>
              <a:rPr sz="3450" b="1">
                <a:solidFill>
                  <a:srgbClr val="16A34A"/>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B3DCEB10-F96A-4BDF-A8C3-EC2E386DA4AB}"/>
              </a:ext>
            </a:extLst>
          </p:cNvPr>
          <p:cNvSpPr>
            <a:spLocks xmlns:a="http://schemas.openxmlformats.org/drawingml/2006/main" noGrp="1"/>
          </p:cNvSpPr>
          <p:nvPr/>
        </p:nvSpPr>
        <p:spPr>
          <a:xfrm xmlns:a="http://schemas.openxmlformats.org/drawingml/2006/main">
            <a:off x="1952625" y="48768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172A"/>
                </a:solidFill>
                <a:latin typeface="Helvetica Neue"/>
                <a:ea typeface="Helvetica Neue"/>
                <a:cs typeface="Helvetica Neue"/>
              </a:defRPr>
            </a:pPr>
            <a:r>
              <a:rPr sz="2025" b="1">
                <a:solidFill>
                  <a:srgbClr val="0F172A"/>
                </a:solidFill>
                <a:latin typeface="Helvetica Neue"/>
                <a:ea typeface="Helvetica Neue"/>
                <a:cs typeface="Helvetica Neue"/>
              </a:rPr>
              <a:t>Review and share reports</a:t>
            </a:r>
          </a:p>
        </p:txBody>
      </p:sp>
      <p:sp>
        <p:nvSpPr>
          <p:cNvPr id="14" name="">
            <a:extLst xmlns:a="http://schemas.openxmlformats.org/drawingml/2006/main">
              <a:ext uri="{FF2B5EF4-FFF2-40B4-BE49-F238E27FC236}">
                <a16:creationId xmlns:a16="http://schemas.microsoft.com/office/drawing/2014/main" id="{E6D92676-AF71-4A20-9690-DC3162F26A9B}"/>
              </a:ext>
            </a:extLst>
          </p:cNvPr>
          <p:cNvSpPr>
            <a:spLocks xmlns:a="http://schemas.openxmlformats.org/drawingml/2006/main" noGrp="1"/>
          </p:cNvSpPr>
          <p:nvPr/>
        </p:nvSpPr>
        <p:spPr>
          <a:xfrm xmlns:a="http://schemas.openxmlformats.org/drawingml/2006/main">
            <a:off x="1952625" y="5314950"/>
            <a:ext cx="790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Reports can be filtered by period and class, then exported for follow-up work.</a:t>
            </a:r>
          </a:p>
        </p:txBody>
      </p:sp>
      <p:sp>
        <p:nvSpPr>
          <p:cNvPr id="15" name="">
            <a:extLst xmlns:a="http://schemas.openxmlformats.org/drawingml/2006/main">
              <a:ext uri="{FF2B5EF4-FFF2-40B4-BE49-F238E27FC236}">
                <a16:creationId xmlns:a16="http://schemas.microsoft.com/office/drawing/2014/main" id="{16F9339D-16EC-4E6E-AC6F-260692010914}"/>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6" name="">
            <a:extLst xmlns:a="http://schemas.openxmlformats.org/drawingml/2006/main">
              <a:ext uri="{FF2B5EF4-FFF2-40B4-BE49-F238E27FC236}">
                <a16:creationId xmlns:a16="http://schemas.microsoft.com/office/drawing/2014/main" id="{4839D48D-9044-4B58-ACF1-00DE90330DDA}"/>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06</a:t>
            </a:r>
          </a:p>
        </p:txBody>
      </p:sp>
    </p:spTree>
    <p:extLst>
      <p:ext uri="{BB962C8B-B14F-4D97-AF65-F5344CB8AC3E}">
        <p14:creationId xmlns:p14="http://schemas.microsoft.com/office/powerpoint/2010/main" val="12205202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AA2BC39-8A9E-4583-B261-E97AE43AEF24}"/>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NAVIGATION</a:t>
            </a:r>
          </a:p>
        </p:txBody>
      </p:sp>
      <p:sp>
        <p:nvSpPr>
          <p:cNvPr id="2" name="">
            <a:extLst xmlns:a="http://schemas.openxmlformats.org/drawingml/2006/main">
              <a:ext uri="{FF2B5EF4-FFF2-40B4-BE49-F238E27FC236}">
                <a16:creationId xmlns:a16="http://schemas.microsoft.com/office/drawing/2014/main" id="{2D6B6485-E132-4CE7-938A-08F942B39E44}"/>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Main application workflow</a:t>
            </a:r>
          </a:p>
        </p:txBody>
      </p:sp>
      <p:sp>
        <p:nvSpPr>
          <p:cNvPr id="3" name="">
            <a:extLst xmlns:a="http://schemas.openxmlformats.org/drawingml/2006/main">
              <a:ext uri="{FF2B5EF4-FFF2-40B4-BE49-F238E27FC236}">
                <a16:creationId xmlns:a16="http://schemas.microsoft.com/office/drawing/2014/main" id="{4F1A4718-86EE-4E5A-9BC1-310A485C30C4}"/>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8BEA6430-FF60-49F1-B545-F20FCB16FC4F}"/>
              </a:ext>
            </a:extLst>
          </p:cNvPr>
          <p:cNvSpPr>
            <a:spLocks xmlns:a="http://schemas.openxmlformats.org/drawingml/2006/main" noGrp="1"/>
          </p:cNvSpPr>
          <p:nvPr/>
        </p:nvSpPr>
        <p:spPr>
          <a:xfrm xmlns:a="http://schemas.openxmlformats.org/drawingml/2006/main">
            <a:off x="2238375" y="3333750"/>
            <a:ext cx="7239000" cy="0"/>
          </a:xfrm>
          <a:prstGeom xmlns:a="http://schemas.openxmlformats.org/drawingml/2006/main" prst="line">
            <a:avLst/>
          </a:prstGeom>
          <a:noFill xmlns:a="http://schemas.openxmlformats.org/drawingml/2006/main"/>
          <a:ln xmlns:a="http://schemas.openxmlformats.org/drawingml/2006/main" w="47625">
            <a:solidFill>
              <a:srgbClr val="CBD5E1"/>
            </a:solidFill>
          </a:ln>
        </p:spPr>
      </p:sp>
      <p:sp>
        <p:nvSpPr>
          <p:cNvPr id="5" name="">
            <a:extLst xmlns:a="http://schemas.openxmlformats.org/drawingml/2006/main">
              <a:ext uri="{FF2B5EF4-FFF2-40B4-BE49-F238E27FC236}">
                <a16:creationId xmlns:a16="http://schemas.microsoft.com/office/drawing/2014/main" id="{50231773-05E2-46E6-8CC0-CB7D83FBDCD2}"/>
              </a:ext>
            </a:extLst>
          </p:cNvPr>
          <p:cNvSpPr>
            <a:spLocks xmlns:a="http://schemas.openxmlformats.org/drawingml/2006/main" noGrp="1"/>
          </p:cNvSpPr>
          <p:nvPr/>
        </p:nvSpPr>
        <p:spPr>
          <a:xfrm xmlns:a="http://schemas.openxmlformats.org/drawingml/2006/main">
            <a:off x="1000125" y="2381250"/>
            <a:ext cx="2047875" cy="1952625"/>
          </a:xfrm>
          <a:prstGeom xmlns:a="http://schemas.openxmlformats.org/drawingml/2006/main" prst="roundRect">
            <a:avLst>
              <a:gd name="adj" fmla="val 3902"/>
            </a:avLst>
          </a:prstGeom>
          <a:solidFill xmlns:a="http://schemas.openxmlformats.org/drawingml/2006/main">
            <a:srgbClr val="0F172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D1F2837-AA4F-457D-800E-38A50F8D5AE6}"/>
              </a:ext>
            </a:extLst>
          </p:cNvPr>
          <p:cNvSpPr>
            <a:spLocks xmlns:a="http://schemas.openxmlformats.org/drawingml/2006/main" noGrp="1"/>
          </p:cNvSpPr>
          <p:nvPr/>
        </p:nvSpPr>
        <p:spPr>
          <a:xfrm xmlns:a="http://schemas.openxmlformats.org/drawingml/2006/main">
            <a:off x="1209675"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97083CBF-F82D-4508-B4CC-FA5107F3F272}"/>
              </a:ext>
            </a:extLst>
          </p:cNvPr>
          <p:cNvSpPr>
            <a:spLocks xmlns:a="http://schemas.openxmlformats.org/drawingml/2006/main" noGrp="1"/>
          </p:cNvSpPr>
          <p:nvPr/>
        </p:nvSpPr>
        <p:spPr>
          <a:xfrm xmlns:a="http://schemas.openxmlformats.org/drawingml/2006/main">
            <a:off x="1209675"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Sign in</a:t>
            </a:r>
          </a:p>
        </p:txBody>
      </p:sp>
      <p:sp>
        <p:nvSpPr>
          <p:cNvPr id="8" name="">
            <a:extLst xmlns:a="http://schemas.openxmlformats.org/drawingml/2006/main">
              <a:ext uri="{FF2B5EF4-FFF2-40B4-BE49-F238E27FC236}">
                <a16:creationId xmlns:a16="http://schemas.microsoft.com/office/drawing/2014/main" id="{BDA60228-E8F5-468B-B273-CDC3B7A2DC82}"/>
              </a:ext>
            </a:extLst>
          </p:cNvPr>
          <p:cNvSpPr>
            <a:spLocks xmlns:a="http://schemas.openxmlformats.org/drawingml/2006/main" noGrp="1"/>
          </p:cNvSpPr>
          <p:nvPr/>
        </p:nvSpPr>
        <p:spPr>
          <a:xfrm xmlns:a="http://schemas.openxmlformats.org/drawingml/2006/main">
            <a:off x="1209675"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CBD5E1"/>
                </a:solidFill>
                <a:latin typeface="Helvetica Neue"/>
                <a:ea typeface="Helvetica Neue"/>
                <a:cs typeface="Helvetica Neue"/>
              </a:defRPr>
            </a:pPr>
            <a:r>
              <a:rPr sz="1200" b="0">
                <a:solidFill>
                  <a:srgbClr val="CBD5E1"/>
                </a:solidFill>
                <a:latin typeface="Helvetica Neue"/>
                <a:ea typeface="Helvetica Neue"/>
                <a:cs typeface="Helvetica Neue"/>
              </a:rPr>
              <a:t>Use a teacher account</a:t>
            </a:r>
          </a:p>
        </p:txBody>
      </p:sp>
      <p:sp>
        <p:nvSpPr>
          <p:cNvPr id="9" name="">
            <a:extLst xmlns:a="http://schemas.openxmlformats.org/drawingml/2006/main">
              <a:ext uri="{FF2B5EF4-FFF2-40B4-BE49-F238E27FC236}">
                <a16:creationId xmlns:a16="http://schemas.microsoft.com/office/drawing/2014/main" id="{70DF5C48-1B43-494A-9711-6AFC8AC8B282}"/>
              </a:ext>
            </a:extLst>
          </p:cNvPr>
          <p:cNvSpPr>
            <a:spLocks xmlns:a="http://schemas.openxmlformats.org/drawingml/2006/main" noGrp="1"/>
          </p:cNvSpPr>
          <p:nvPr/>
        </p:nvSpPr>
        <p:spPr>
          <a:xfrm xmlns:a="http://schemas.openxmlformats.org/drawingml/2006/main">
            <a:off x="3714750" y="2381250"/>
            <a:ext cx="2047875" cy="1952625"/>
          </a:xfrm>
          <a:prstGeom xmlns:a="http://schemas.openxmlformats.org/drawingml/2006/main" prst="roundRect">
            <a:avLst>
              <a:gd name="adj" fmla="val 3902"/>
            </a:avLst>
          </a:prstGeom>
          <a:solidFill xmlns:a="http://schemas.openxmlformats.org/drawingml/2006/main">
            <a:srgbClr val="F1F5F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B524BBF-8FC0-492C-B812-5D5BB0DF8D0A}"/>
              </a:ext>
            </a:extLst>
          </p:cNvPr>
          <p:cNvSpPr>
            <a:spLocks xmlns:a="http://schemas.openxmlformats.org/drawingml/2006/main" noGrp="1"/>
          </p:cNvSpPr>
          <p:nvPr/>
        </p:nvSpPr>
        <p:spPr>
          <a:xfrm xmlns:a="http://schemas.openxmlformats.org/drawingml/2006/main">
            <a:off x="3924300"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482D72E5-55E2-43DA-BA1E-88D15AADA198}"/>
              </a:ext>
            </a:extLst>
          </p:cNvPr>
          <p:cNvSpPr>
            <a:spLocks xmlns:a="http://schemas.openxmlformats.org/drawingml/2006/main" noGrp="1"/>
          </p:cNvSpPr>
          <p:nvPr/>
        </p:nvSpPr>
        <p:spPr>
          <a:xfrm xmlns:a="http://schemas.openxmlformats.org/drawingml/2006/main">
            <a:off x="3924300"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Initial Data</a:t>
            </a:r>
          </a:p>
        </p:txBody>
      </p:sp>
      <p:sp>
        <p:nvSpPr>
          <p:cNvPr id="12" name="">
            <a:extLst xmlns:a="http://schemas.openxmlformats.org/drawingml/2006/main">
              <a:ext uri="{FF2B5EF4-FFF2-40B4-BE49-F238E27FC236}">
                <a16:creationId xmlns:a16="http://schemas.microsoft.com/office/drawing/2014/main" id="{ABC5B214-32F4-48F2-AE79-41A16CE7A203}"/>
              </a:ext>
            </a:extLst>
          </p:cNvPr>
          <p:cNvSpPr>
            <a:spLocks xmlns:a="http://schemas.openxmlformats.org/drawingml/2006/main" noGrp="1"/>
          </p:cNvSpPr>
          <p:nvPr/>
        </p:nvSpPr>
        <p:spPr>
          <a:xfrm xmlns:a="http://schemas.openxmlformats.org/drawingml/2006/main">
            <a:off x="3924300"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Prepare class records</a:t>
            </a:r>
          </a:p>
        </p:txBody>
      </p:sp>
      <p:sp>
        <p:nvSpPr>
          <p:cNvPr id="13" name="">
            <a:extLst xmlns:a="http://schemas.openxmlformats.org/drawingml/2006/main">
              <a:ext uri="{FF2B5EF4-FFF2-40B4-BE49-F238E27FC236}">
                <a16:creationId xmlns:a16="http://schemas.microsoft.com/office/drawing/2014/main" id="{908C90F3-683A-4A2C-AFFE-8C587683CCA4}"/>
              </a:ext>
            </a:extLst>
          </p:cNvPr>
          <p:cNvSpPr>
            <a:spLocks xmlns:a="http://schemas.openxmlformats.org/drawingml/2006/main" noGrp="1"/>
          </p:cNvSpPr>
          <p:nvPr/>
        </p:nvSpPr>
        <p:spPr>
          <a:xfrm xmlns:a="http://schemas.openxmlformats.org/drawingml/2006/main">
            <a:off x="6429375" y="2381250"/>
            <a:ext cx="2047875" cy="1952625"/>
          </a:xfrm>
          <a:prstGeom xmlns:a="http://schemas.openxmlformats.org/drawingml/2006/main" prst="roundRect">
            <a:avLst>
              <a:gd name="adj" fmla="val 3902"/>
            </a:avLst>
          </a:prstGeom>
          <a:solidFill xmlns:a="http://schemas.openxmlformats.org/drawingml/2006/main">
            <a:srgbClr val="F1F5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B6A9B1B-D7F0-49D2-A1DA-FBD063771063}"/>
              </a:ext>
            </a:extLst>
          </p:cNvPr>
          <p:cNvSpPr>
            <a:spLocks xmlns:a="http://schemas.openxmlformats.org/drawingml/2006/main" noGrp="1"/>
          </p:cNvSpPr>
          <p:nvPr/>
        </p:nvSpPr>
        <p:spPr>
          <a:xfrm xmlns:a="http://schemas.openxmlformats.org/drawingml/2006/main">
            <a:off x="6638925"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FDD08C78-0879-4391-AE6F-1994984455B3}"/>
              </a:ext>
            </a:extLst>
          </p:cNvPr>
          <p:cNvSpPr>
            <a:spLocks xmlns:a="http://schemas.openxmlformats.org/drawingml/2006/main" noGrp="1"/>
          </p:cNvSpPr>
          <p:nvPr/>
        </p:nvSpPr>
        <p:spPr>
          <a:xfrm xmlns:a="http://schemas.openxmlformats.org/drawingml/2006/main">
            <a:off x="6638925"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Attendance</a:t>
            </a:r>
          </a:p>
        </p:txBody>
      </p:sp>
      <p:sp>
        <p:nvSpPr>
          <p:cNvPr id="16" name="">
            <a:extLst xmlns:a="http://schemas.openxmlformats.org/drawingml/2006/main">
              <a:ext uri="{FF2B5EF4-FFF2-40B4-BE49-F238E27FC236}">
                <a16:creationId xmlns:a16="http://schemas.microsoft.com/office/drawing/2014/main" id="{2FD6C28E-558C-4994-A475-9F80E2DE245C}"/>
              </a:ext>
            </a:extLst>
          </p:cNvPr>
          <p:cNvSpPr>
            <a:spLocks xmlns:a="http://schemas.openxmlformats.org/drawingml/2006/main" noGrp="1"/>
          </p:cNvSpPr>
          <p:nvPr/>
        </p:nvSpPr>
        <p:spPr>
          <a:xfrm xmlns:a="http://schemas.openxmlformats.org/drawingml/2006/main">
            <a:off x="6638925"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Choose a class and date</a:t>
            </a:r>
          </a:p>
        </p:txBody>
      </p:sp>
      <p:sp>
        <p:nvSpPr>
          <p:cNvPr id="17" name="">
            <a:extLst xmlns:a="http://schemas.openxmlformats.org/drawingml/2006/main">
              <a:ext uri="{FF2B5EF4-FFF2-40B4-BE49-F238E27FC236}">
                <a16:creationId xmlns:a16="http://schemas.microsoft.com/office/drawing/2014/main" id="{914ED2E3-0B0E-4157-8ACE-CCCD8ADFCB31}"/>
              </a:ext>
            </a:extLst>
          </p:cNvPr>
          <p:cNvSpPr>
            <a:spLocks xmlns:a="http://schemas.openxmlformats.org/drawingml/2006/main" noGrp="1"/>
          </p:cNvSpPr>
          <p:nvPr/>
        </p:nvSpPr>
        <p:spPr>
          <a:xfrm xmlns:a="http://schemas.openxmlformats.org/drawingml/2006/main">
            <a:off x="9144000" y="2381250"/>
            <a:ext cx="2047875" cy="1952625"/>
          </a:xfrm>
          <a:prstGeom xmlns:a="http://schemas.openxmlformats.org/drawingml/2006/main" prst="roundRect">
            <a:avLst>
              <a:gd name="adj" fmla="val 3902"/>
            </a:avLst>
          </a:prstGeom>
          <a:solidFill xmlns:a="http://schemas.openxmlformats.org/drawingml/2006/main">
            <a:srgbClr val="F1F5F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5581C59-D089-4FF2-8040-E2E4E8AD8B1D}"/>
              </a:ext>
            </a:extLst>
          </p:cNvPr>
          <p:cNvSpPr>
            <a:spLocks xmlns:a="http://schemas.openxmlformats.org/drawingml/2006/main" noGrp="1"/>
          </p:cNvSpPr>
          <p:nvPr/>
        </p:nvSpPr>
        <p:spPr>
          <a:xfrm xmlns:a="http://schemas.openxmlformats.org/drawingml/2006/main">
            <a:off x="9353550" y="2571750"/>
            <a:ext cx="57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5755D9"/>
                </a:solidFill>
                <a:latin typeface="Helvetica Neue"/>
                <a:ea typeface="Helvetica Neue"/>
                <a:cs typeface="Helvetica Neue"/>
              </a:defRPr>
            </a:pPr>
            <a:r>
              <a:rPr sz="2550" b="1">
                <a:solidFill>
                  <a:srgbClr val="5755D9"/>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0215E33F-1F40-4437-843F-67F706A53730}"/>
              </a:ext>
            </a:extLst>
          </p:cNvPr>
          <p:cNvSpPr>
            <a:spLocks xmlns:a="http://schemas.openxmlformats.org/drawingml/2006/main" noGrp="1"/>
          </p:cNvSpPr>
          <p:nvPr/>
        </p:nvSpPr>
        <p:spPr>
          <a:xfrm xmlns:a="http://schemas.openxmlformats.org/drawingml/2006/main">
            <a:off x="9353550" y="31432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Reports</a:t>
            </a:r>
          </a:p>
        </p:txBody>
      </p:sp>
      <p:sp>
        <p:nvSpPr>
          <p:cNvPr id="20" name="">
            <a:extLst xmlns:a="http://schemas.openxmlformats.org/drawingml/2006/main">
              <a:ext uri="{FF2B5EF4-FFF2-40B4-BE49-F238E27FC236}">
                <a16:creationId xmlns:a16="http://schemas.microsoft.com/office/drawing/2014/main" id="{EC748239-FBE8-4FD8-A02A-CADB2B48CC51}"/>
              </a:ext>
            </a:extLst>
          </p:cNvPr>
          <p:cNvSpPr>
            <a:spLocks xmlns:a="http://schemas.openxmlformats.org/drawingml/2006/main" noGrp="1"/>
          </p:cNvSpPr>
          <p:nvPr/>
        </p:nvSpPr>
        <p:spPr>
          <a:xfrm xmlns:a="http://schemas.openxmlformats.org/drawingml/2006/main">
            <a:off x="9353550" y="36385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Review and export results</a:t>
            </a:r>
          </a:p>
        </p:txBody>
      </p:sp>
      <p:sp>
        <p:nvSpPr>
          <p:cNvPr id="21" name="">
            <a:extLst xmlns:a="http://schemas.openxmlformats.org/drawingml/2006/main">
              <a:ext uri="{FF2B5EF4-FFF2-40B4-BE49-F238E27FC236}">
                <a16:creationId xmlns:a16="http://schemas.microsoft.com/office/drawing/2014/main" id="{B4599F27-CF1D-4012-B83E-C84FD4BE3575}"/>
              </a:ext>
            </a:extLst>
          </p:cNvPr>
          <p:cNvSpPr>
            <a:spLocks xmlns:a="http://schemas.openxmlformats.org/drawingml/2006/main" noGrp="1"/>
          </p:cNvSpPr>
          <p:nvPr/>
        </p:nvSpPr>
        <p:spPr>
          <a:xfrm xmlns:a="http://schemas.openxmlformats.org/drawingml/2006/main">
            <a:off x="2381250" y="491490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The teacher menu also includes Home, Class Summary, About, and Sign Out.</a:t>
            </a:r>
          </a:p>
        </p:txBody>
      </p:sp>
      <p:sp>
        <p:nvSpPr>
          <p:cNvPr id="22" name="">
            <a:extLst xmlns:a="http://schemas.openxmlformats.org/drawingml/2006/main">
              <a:ext uri="{FF2B5EF4-FFF2-40B4-BE49-F238E27FC236}">
                <a16:creationId xmlns:a16="http://schemas.microsoft.com/office/drawing/2014/main" id="{0A665477-76BC-4378-8956-36FCA1352CA8}"/>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3" name="">
            <a:extLst xmlns:a="http://schemas.openxmlformats.org/drawingml/2006/main">
              <a:ext uri="{FF2B5EF4-FFF2-40B4-BE49-F238E27FC236}">
                <a16:creationId xmlns:a16="http://schemas.microsoft.com/office/drawing/2014/main" id="{17E1188E-D298-4B33-BAD8-98A62EE9B2BA}"/>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07</a:t>
            </a:r>
          </a:p>
        </p:txBody>
      </p:sp>
    </p:spTree>
    <p:extLst>
      <p:ext uri="{BB962C8B-B14F-4D97-AF65-F5344CB8AC3E}">
        <p14:creationId xmlns:p14="http://schemas.microsoft.com/office/powerpoint/2010/main" val="14215492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4E3B980-DE9A-4CBA-B116-72B52A706462}"/>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PREPARATION</a:t>
            </a:r>
          </a:p>
        </p:txBody>
      </p:sp>
      <p:sp>
        <p:nvSpPr>
          <p:cNvPr id="2" name="">
            <a:extLst xmlns:a="http://schemas.openxmlformats.org/drawingml/2006/main">
              <a:ext uri="{FF2B5EF4-FFF2-40B4-BE49-F238E27FC236}">
                <a16:creationId xmlns:a16="http://schemas.microsoft.com/office/drawing/2014/main" id="{4048F891-491E-47CA-BA92-1B44A7031550}"/>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Initial Data provides the foundation for attendance</a:t>
            </a:r>
          </a:p>
        </p:txBody>
      </p:sp>
      <p:sp>
        <p:nvSpPr>
          <p:cNvPr id="3" name="">
            <a:extLst xmlns:a="http://schemas.openxmlformats.org/drawingml/2006/main">
              <a:ext uri="{FF2B5EF4-FFF2-40B4-BE49-F238E27FC236}">
                <a16:creationId xmlns:a16="http://schemas.microsoft.com/office/drawing/2014/main" id="{F7EC8820-7E67-4D65-BD36-C87C576E7516}"/>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BB64CF18-863D-44F1-B908-38877516E755}"/>
              </a:ext>
            </a:extLst>
          </p:cNvPr>
          <p:cNvSpPr>
            <a:spLocks xmlns:a="http://schemas.openxmlformats.org/drawingml/2006/main" noGrp="1"/>
          </p:cNvSpPr>
          <p:nvPr/>
        </p:nvSpPr>
        <p:spPr>
          <a:xfrm xmlns:a="http://schemas.openxmlformats.org/drawingml/2006/main">
            <a:off x="800100" y="18478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5755D9"/>
                </a:solidFill>
                <a:latin typeface="Helvetica Neue"/>
                <a:ea typeface="Helvetica Neue"/>
                <a:cs typeface="Helvetica Neue"/>
              </a:defRPr>
            </a:pPr>
            <a:r>
              <a:rPr sz="1650" b="1">
                <a:solidFill>
                  <a:srgbClr val="5755D9"/>
                </a:solidFill>
                <a:latin typeface="Helvetica Neue"/>
                <a:ea typeface="Helvetica Neue"/>
                <a:cs typeface="Helvetica Neue"/>
              </a:rPr>
              <a:t>Four record types</a:t>
            </a:r>
          </a:p>
        </p:txBody>
      </p:sp>
      <p:sp>
        <p:nvSpPr>
          <p:cNvPr id="5" name="">
            <a:extLst xmlns:a="http://schemas.openxmlformats.org/drawingml/2006/main">
              <a:ext uri="{FF2B5EF4-FFF2-40B4-BE49-F238E27FC236}">
                <a16:creationId xmlns:a16="http://schemas.microsoft.com/office/drawing/2014/main" id="{B556EC0F-80A0-4F23-BC26-3AC4C850210E}"/>
              </a:ext>
            </a:extLst>
          </p:cNvPr>
          <p:cNvSpPr>
            <a:spLocks xmlns:a="http://schemas.openxmlformats.org/drawingml/2006/main" noGrp="1"/>
          </p:cNvSpPr>
          <p:nvPr/>
        </p:nvSpPr>
        <p:spPr>
          <a:xfrm xmlns:a="http://schemas.openxmlformats.org/drawingml/2006/main">
            <a:off x="819150" y="23622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A</a:t>
            </a:r>
          </a:p>
        </p:txBody>
      </p:sp>
      <p:sp>
        <p:nvSpPr>
          <p:cNvPr id="6" name="">
            <a:extLst xmlns:a="http://schemas.openxmlformats.org/drawingml/2006/main">
              <a:ext uri="{FF2B5EF4-FFF2-40B4-BE49-F238E27FC236}">
                <a16:creationId xmlns:a16="http://schemas.microsoft.com/office/drawing/2014/main" id="{312719E1-2047-4620-B5E8-8FA87BF591E8}"/>
              </a:ext>
            </a:extLst>
          </p:cNvPr>
          <p:cNvSpPr>
            <a:spLocks xmlns:a="http://schemas.openxmlformats.org/drawingml/2006/main" noGrp="1"/>
          </p:cNvSpPr>
          <p:nvPr/>
        </p:nvSpPr>
        <p:spPr>
          <a:xfrm xmlns:a="http://schemas.openxmlformats.org/drawingml/2006/main">
            <a:off x="1466850" y="23622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Academic year</a:t>
            </a:r>
          </a:p>
        </p:txBody>
      </p:sp>
      <p:sp>
        <p:nvSpPr>
          <p:cNvPr id="7" name="">
            <a:extLst xmlns:a="http://schemas.openxmlformats.org/drawingml/2006/main">
              <a:ext uri="{FF2B5EF4-FFF2-40B4-BE49-F238E27FC236}">
                <a16:creationId xmlns:a16="http://schemas.microsoft.com/office/drawing/2014/main" id="{8C75C750-343C-4235-AF31-2ECEF156D0F6}"/>
              </a:ext>
            </a:extLst>
          </p:cNvPr>
          <p:cNvSpPr>
            <a:spLocks xmlns:a="http://schemas.openxmlformats.org/drawingml/2006/main" noGrp="1"/>
          </p:cNvSpPr>
          <p:nvPr/>
        </p:nvSpPr>
        <p:spPr>
          <a:xfrm xmlns:a="http://schemas.openxmlformats.org/drawingml/2006/main">
            <a:off x="1466850" y="27241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Example: 2026/2027 - Semester 1</a:t>
            </a:r>
          </a:p>
        </p:txBody>
      </p:sp>
      <p:sp>
        <p:nvSpPr>
          <p:cNvPr id="8" name="">
            <a:extLst xmlns:a="http://schemas.openxmlformats.org/drawingml/2006/main">
              <a:ext uri="{FF2B5EF4-FFF2-40B4-BE49-F238E27FC236}">
                <a16:creationId xmlns:a16="http://schemas.microsoft.com/office/drawing/2014/main" id="{B57BD262-6C8C-460B-AF04-228DA4A936F3}"/>
              </a:ext>
            </a:extLst>
          </p:cNvPr>
          <p:cNvSpPr>
            <a:spLocks xmlns:a="http://schemas.openxmlformats.org/drawingml/2006/main" noGrp="1"/>
          </p:cNvSpPr>
          <p:nvPr/>
        </p:nvSpPr>
        <p:spPr>
          <a:xfrm xmlns:a="http://schemas.openxmlformats.org/drawingml/2006/main">
            <a:off x="819150" y="32385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B</a:t>
            </a:r>
          </a:p>
        </p:txBody>
      </p:sp>
      <p:sp>
        <p:nvSpPr>
          <p:cNvPr id="9" name="">
            <a:extLst xmlns:a="http://schemas.openxmlformats.org/drawingml/2006/main">
              <a:ext uri="{FF2B5EF4-FFF2-40B4-BE49-F238E27FC236}">
                <a16:creationId xmlns:a16="http://schemas.microsoft.com/office/drawing/2014/main" id="{66C217F5-6085-49CB-905B-3D6176D71F05}"/>
              </a:ext>
            </a:extLst>
          </p:cNvPr>
          <p:cNvSpPr>
            <a:spLocks xmlns:a="http://schemas.openxmlformats.org/drawingml/2006/main" noGrp="1"/>
          </p:cNvSpPr>
          <p:nvPr/>
        </p:nvSpPr>
        <p:spPr>
          <a:xfrm xmlns:a="http://schemas.openxmlformats.org/drawingml/2006/main">
            <a:off x="1466850" y="32385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Attendance types</a:t>
            </a:r>
          </a:p>
        </p:txBody>
      </p:sp>
      <p:sp>
        <p:nvSpPr>
          <p:cNvPr id="10" name="">
            <a:extLst xmlns:a="http://schemas.openxmlformats.org/drawingml/2006/main">
              <a:ext uri="{FF2B5EF4-FFF2-40B4-BE49-F238E27FC236}">
                <a16:creationId xmlns:a16="http://schemas.microsoft.com/office/drawing/2014/main" id="{A707522E-88E2-43E4-A62B-A95760F80461}"/>
              </a:ext>
            </a:extLst>
          </p:cNvPr>
          <p:cNvSpPr>
            <a:spLocks xmlns:a="http://schemas.openxmlformats.org/drawingml/2006/main" noGrp="1"/>
          </p:cNvSpPr>
          <p:nvPr/>
        </p:nvSpPr>
        <p:spPr>
          <a:xfrm xmlns:a="http://schemas.openxmlformats.org/drawingml/2006/main">
            <a:off x="1466850" y="36004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Labels and colors for reports</a:t>
            </a:r>
          </a:p>
        </p:txBody>
      </p:sp>
      <p:sp>
        <p:nvSpPr>
          <p:cNvPr id="11" name="">
            <a:extLst xmlns:a="http://schemas.openxmlformats.org/drawingml/2006/main">
              <a:ext uri="{FF2B5EF4-FFF2-40B4-BE49-F238E27FC236}">
                <a16:creationId xmlns:a16="http://schemas.microsoft.com/office/drawing/2014/main" id="{0F3F0656-7246-4223-A395-0D2D0F6E3E1A}"/>
              </a:ext>
            </a:extLst>
          </p:cNvPr>
          <p:cNvSpPr>
            <a:spLocks xmlns:a="http://schemas.openxmlformats.org/drawingml/2006/main" noGrp="1"/>
          </p:cNvSpPr>
          <p:nvPr/>
        </p:nvSpPr>
        <p:spPr>
          <a:xfrm xmlns:a="http://schemas.openxmlformats.org/drawingml/2006/main">
            <a:off x="819150" y="41148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C</a:t>
            </a:r>
          </a:p>
        </p:txBody>
      </p:sp>
      <p:sp>
        <p:nvSpPr>
          <p:cNvPr id="12" name="">
            <a:extLst xmlns:a="http://schemas.openxmlformats.org/drawingml/2006/main">
              <a:ext uri="{FF2B5EF4-FFF2-40B4-BE49-F238E27FC236}">
                <a16:creationId xmlns:a16="http://schemas.microsoft.com/office/drawing/2014/main" id="{25AF54AE-8E1D-45F7-9BCD-762AB3FF3F32}"/>
              </a:ext>
            </a:extLst>
          </p:cNvPr>
          <p:cNvSpPr>
            <a:spLocks xmlns:a="http://schemas.openxmlformats.org/drawingml/2006/main" noGrp="1"/>
          </p:cNvSpPr>
          <p:nvPr/>
        </p:nvSpPr>
        <p:spPr>
          <a:xfrm xmlns:a="http://schemas.openxmlformats.org/drawingml/2006/main">
            <a:off x="1466850" y="41148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Students</a:t>
            </a:r>
          </a:p>
        </p:txBody>
      </p:sp>
      <p:sp>
        <p:nvSpPr>
          <p:cNvPr id="13" name="">
            <a:extLst xmlns:a="http://schemas.openxmlformats.org/drawingml/2006/main">
              <a:ext uri="{FF2B5EF4-FFF2-40B4-BE49-F238E27FC236}">
                <a16:creationId xmlns:a16="http://schemas.microsoft.com/office/drawing/2014/main" id="{E0E6EB99-A24B-4E22-8692-C3B8E4C6FE15}"/>
              </a:ext>
            </a:extLst>
          </p:cNvPr>
          <p:cNvSpPr>
            <a:spLocks xmlns:a="http://schemas.openxmlformats.org/drawingml/2006/main" noGrp="1"/>
          </p:cNvSpPr>
          <p:nvPr/>
        </p:nvSpPr>
        <p:spPr>
          <a:xfrm xmlns:a="http://schemas.openxmlformats.org/drawingml/2006/main">
            <a:off x="1466850" y="44767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Alternative ID and name</a:t>
            </a:r>
          </a:p>
        </p:txBody>
      </p:sp>
      <p:sp>
        <p:nvSpPr>
          <p:cNvPr id="14" name="">
            <a:extLst xmlns:a="http://schemas.openxmlformats.org/drawingml/2006/main">
              <a:ext uri="{FF2B5EF4-FFF2-40B4-BE49-F238E27FC236}">
                <a16:creationId xmlns:a16="http://schemas.microsoft.com/office/drawing/2014/main" id="{7AE8419C-0278-4E3C-A4D0-A127A615E923}"/>
              </a:ext>
            </a:extLst>
          </p:cNvPr>
          <p:cNvSpPr>
            <a:spLocks xmlns:a="http://schemas.openxmlformats.org/drawingml/2006/main" noGrp="1"/>
          </p:cNvSpPr>
          <p:nvPr/>
        </p:nvSpPr>
        <p:spPr>
          <a:xfrm xmlns:a="http://schemas.openxmlformats.org/drawingml/2006/main">
            <a:off x="819150" y="4991100"/>
            <a:ext cx="438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755D9"/>
                </a:solidFill>
                <a:latin typeface="Helvetica Neue"/>
                <a:ea typeface="Helvetica Neue"/>
                <a:cs typeface="Helvetica Neue"/>
              </a:defRPr>
            </a:pPr>
            <a:r>
              <a:rPr sz="2025" b="1">
                <a:solidFill>
                  <a:srgbClr val="5755D9"/>
                </a:solidFill>
                <a:latin typeface="Helvetica Neue"/>
                <a:ea typeface="Helvetica Neue"/>
                <a:cs typeface="Helvetica Neue"/>
              </a:rPr>
              <a:t>D</a:t>
            </a:r>
          </a:p>
        </p:txBody>
      </p:sp>
      <p:sp>
        <p:nvSpPr>
          <p:cNvPr id="15" name="">
            <a:extLst xmlns:a="http://schemas.openxmlformats.org/drawingml/2006/main">
              <a:ext uri="{FF2B5EF4-FFF2-40B4-BE49-F238E27FC236}">
                <a16:creationId xmlns:a16="http://schemas.microsoft.com/office/drawing/2014/main" id="{2B205091-1295-4A33-92D0-4E2D3D77FAB9}"/>
              </a:ext>
            </a:extLst>
          </p:cNvPr>
          <p:cNvSpPr>
            <a:spLocks xmlns:a="http://schemas.openxmlformats.org/drawingml/2006/main" noGrp="1"/>
          </p:cNvSpPr>
          <p:nvPr/>
        </p:nvSpPr>
        <p:spPr>
          <a:xfrm xmlns:a="http://schemas.openxmlformats.org/drawingml/2006/main">
            <a:off x="1466850" y="4991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Class assignments</a:t>
            </a:r>
          </a:p>
        </p:txBody>
      </p:sp>
      <p:sp>
        <p:nvSpPr>
          <p:cNvPr id="16" name="">
            <a:extLst xmlns:a="http://schemas.openxmlformats.org/drawingml/2006/main">
              <a:ext uri="{FF2B5EF4-FFF2-40B4-BE49-F238E27FC236}">
                <a16:creationId xmlns:a16="http://schemas.microsoft.com/office/drawing/2014/main" id="{ED6E2B51-BF1F-4D03-B4DE-E00A088E7982}"/>
              </a:ext>
            </a:extLst>
          </p:cNvPr>
          <p:cNvSpPr>
            <a:spLocks xmlns:a="http://schemas.openxmlformats.org/drawingml/2006/main" noGrp="1"/>
          </p:cNvSpPr>
          <p:nvPr/>
        </p:nvSpPr>
        <p:spPr>
          <a:xfrm xmlns:a="http://schemas.openxmlformats.org/drawingml/2006/main">
            <a:off x="1466850" y="5353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4748B"/>
                </a:solidFill>
                <a:latin typeface="Helvetica Neue"/>
                <a:ea typeface="Helvetica Neue"/>
                <a:cs typeface="Helvetica Neue"/>
              </a:defRPr>
            </a:pPr>
            <a:r>
              <a:rPr sz="1200" b="0">
                <a:solidFill>
                  <a:srgbClr val="64748B"/>
                </a:solidFill>
                <a:latin typeface="Helvetica Neue"/>
                <a:ea typeface="Helvetica Neue"/>
                <a:cs typeface="Helvetica Neue"/>
              </a:rPr>
              <a:t>One active class per academic year</a:t>
            </a:r>
          </a:p>
        </p:txBody>
      </p:sp>
      <p:sp>
        <p:nvSpPr>
          <p:cNvPr id="17" name="">
            <a:extLst xmlns:a="http://schemas.openxmlformats.org/drawingml/2006/main">
              <a:ext uri="{FF2B5EF4-FFF2-40B4-BE49-F238E27FC236}">
                <a16:creationId xmlns:a16="http://schemas.microsoft.com/office/drawing/2014/main" id="{DEDF2F40-93DD-4CC2-B3E5-C56BD6C34436}"/>
              </a:ext>
            </a:extLst>
          </p:cNvPr>
          <p:cNvSpPr>
            <a:spLocks xmlns:a="http://schemas.openxmlformats.org/drawingml/2006/main" noGrp="1"/>
          </p:cNvSpPr>
          <p:nvPr/>
        </p:nvSpPr>
        <p:spPr>
          <a:xfrm xmlns:a="http://schemas.openxmlformats.org/drawingml/2006/main">
            <a:off x="6238875" y="1981200"/>
            <a:ext cx="4476750" cy="323850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89C1975-65EE-4BBB-A282-390E9A5F2DF3}"/>
              </a:ext>
            </a:extLst>
          </p:cNvPr>
          <p:cNvSpPr>
            <a:spLocks xmlns:a="http://schemas.openxmlformats.org/drawingml/2006/main" noGrp="1"/>
          </p:cNvSpPr>
          <p:nvPr/>
        </p:nvSpPr>
        <p:spPr>
          <a:xfrm xmlns:a="http://schemas.openxmlformats.org/drawingml/2006/main">
            <a:off x="6610350" y="2324100"/>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F172A"/>
                </a:solidFill>
                <a:latin typeface="Helvetica Neue"/>
                <a:ea typeface="Helvetica Neue"/>
                <a:cs typeface="Helvetica Neue"/>
              </a:defRPr>
            </a:pPr>
            <a:r>
              <a:rPr sz="1800" b="1">
                <a:solidFill>
                  <a:srgbClr val="0F172A"/>
                </a:solidFill>
                <a:latin typeface="Helvetica Neue"/>
                <a:ea typeface="Helvetica Neue"/>
                <a:cs typeface="Helvetica Neue"/>
              </a:rPr>
              <a:t>Ways to enter student records</a:t>
            </a:r>
          </a:p>
        </p:txBody>
      </p:sp>
      <p:sp>
        <p:nvSpPr>
          <p:cNvPr id="19" name="">
            <a:extLst xmlns:a="http://schemas.openxmlformats.org/drawingml/2006/main">
              <a:ext uri="{FF2B5EF4-FFF2-40B4-BE49-F238E27FC236}">
                <a16:creationId xmlns:a16="http://schemas.microsoft.com/office/drawing/2014/main" id="{F846A1FD-A3F3-4937-BE67-75272D05E4CA}"/>
              </a:ext>
            </a:extLst>
          </p:cNvPr>
          <p:cNvSpPr>
            <a:spLocks xmlns:a="http://schemas.openxmlformats.org/drawingml/2006/main" noGrp="1"/>
          </p:cNvSpPr>
          <p:nvPr/>
        </p:nvSpPr>
        <p:spPr>
          <a:xfrm xmlns:a="http://schemas.openxmlformats.org/drawingml/2006/main">
            <a:off x="6610350" y="30099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5755D9"/>
                </a:solidFill>
                <a:latin typeface="Helvetica Neue"/>
                <a:ea typeface="Helvetica Neue"/>
                <a:cs typeface="Helvetica Neue"/>
              </a:defRPr>
            </a:pPr>
            <a:r>
              <a:rPr sz="1500" b="1">
                <a:solidFill>
                  <a:srgbClr val="5755D9"/>
                </a:solidFill>
                <a:latin typeface="Helvetica Neue"/>
                <a:ea typeface="Helvetica Neue"/>
                <a:cs typeface="Helvetica Neue"/>
              </a:rPr>
              <a:t>Direct entry</a:t>
            </a:r>
          </a:p>
        </p:txBody>
      </p:sp>
      <p:sp>
        <p:nvSpPr>
          <p:cNvPr id="20" name="">
            <a:extLst xmlns:a="http://schemas.openxmlformats.org/drawingml/2006/main">
              <a:ext uri="{FF2B5EF4-FFF2-40B4-BE49-F238E27FC236}">
                <a16:creationId xmlns:a16="http://schemas.microsoft.com/office/drawing/2014/main" id="{2F21887C-9750-4C79-BC6C-3519E656D60B}"/>
              </a:ext>
            </a:extLst>
          </p:cNvPr>
          <p:cNvSpPr>
            <a:spLocks xmlns:a="http://schemas.openxmlformats.org/drawingml/2006/main" noGrp="1"/>
          </p:cNvSpPr>
          <p:nvPr/>
        </p:nvSpPr>
        <p:spPr>
          <a:xfrm xmlns:a="http://schemas.openxmlformats.org/drawingml/2006/main">
            <a:off x="6610350" y="33528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Best for adding or changing a small number of records.</a:t>
            </a:r>
          </a:p>
        </p:txBody>
      </p:sp>
      <p:sp>
        <p:nvSpPr>
          <p:cNvPr id="21" name="">
            <a:extLst xmlns:a="http://schemas.openxmlformats.org/drawingml/2006/main">
              <a:ext uri="{FF2B5EF4-FFF2-40B4-BE49-F238E27FC236}">
                <a16:creationId xmlns:a16="http://schemas.microsoft.com/office/drawing/2014/main" id="{2CBEFED9-E32D-4519-A7F0-554F70EC1F08}"/>
              </a:ext>
            </a:extLst>
          </p:cNvPr>
          <p:cNvSpPr>
            <a:spLocks xmlns:a="http://schemas.openxmlformats.org/drawingml/2006/main" noGrp="1"/>
          </p:cNvSpPr>
          <p:nvPr/>
        </p:nvSpPr>
        <p:spPr>
          <a:xfrm xmlns:a="http://schemas.openxmlformats.org/drawingml/2006/main">
            <a:off x="6610350" y="4000500"/>
            <a:ext cx="333375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22" name="">
            <a:extLst xmlns:a="http://schemas.openxmlformats.org/drawingml/2006/main">
              <a:ext uri="{FF2B5EF4-FFF2-40B4-BE49-F238E27FC236}">
                <a16:creationId xmlns:a16="http://schemas.microsoft.com/office/drawing/2014/main" id="{DA8D5CD4-21F1-4A75-92F9-A523D29A195C}"/>
              </a:ext>
            </a:extLst>
          </p:cNvPr>
          <p:cNvSpPr>
            <a:spLocks xmlns:a="http://schemas.openxmlformats.org/drawingml/2006/main" noGrp="1"/>
          </p:cNvSpPr>
          <p:nvPr/>
        </p:nvSpPr>
        <p:spPr>
          <a:xfrm xmlns:a="http://schemas.openxmlformats.org/drawingml/2006/main">
            <a:off x="6610350" y="43053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2563EB"/>
                </a:solidFill>
                <a:latin typeface="Helvetica Neue"/>
                <a:ea typeface="Helvetica Neue"/>
                <a:cs typeface="Helvetica Neue"/>
              </a:defRPr>
            </a:pPr>
            <a:r>
              <a:rPr sz="1500" b="1">
                <a:solidFill>
                  <a:srgbClr val="2563EB"/>
                </a:solidFill>
                <a:latin typeface="Helvetica Neue"/>
                <a:ea typeface="Helvetica Neue"/>
                <a:cs typeface="Helvetica Neue"/>
              </a:rPr>
              <a:t>Excel or CSV import</a:t>
            </a:r>
          </a:p>
        </p:txBody>
      </p:sp>
      <p:sp>
        <p:nvSpPr>
          <p:cNvPr id="23" name="">
            <a:extLst xmlns:a="http://schemas.openxmlformats.org/drawingml/2006/main">
              <a:ext uri="{FF2B5EF4-FFF2-40B4-BE49-F238E27FC236}">
                <a16:creationId xmlns:a16="http://schemas.microsoft.com/office/drawing/2014/main" id="{F002AABE-0B1C-407F-ABA5-93A298DBB426}"/>
              </a:ext>
            </a:extLst>
          </p:cNvPr>
          <p:cNvSpPr>
            <a:spLocks xmlns:a="http://schemas.openxmlformats.org/drawingml/2006/main" noGrp="1"/>
          </p:cNvSpPr>
          <p:nvPr/>
        </p:nvSpPr>
        <p:spPr>
          <a:xfrm xmlns:a="http://schemas.openxmlformats.org/drawingml/2006/main">
            <a:off x="6610350" y="4648200"/>
            <a:ext cx="333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4748B"/>
                </a:solidFill>
                <a:latin typeface="Helvetica Neue"/>
                <a:ea typeface="Helvetica Neue"/>
                <a:cs typeface="Helvetica Neue"/>
              </a:defRPr>
            </a:pPr>
            <a:r>
              <a:rPr sz="1275" b="0">
                <a:solidFill>
                  <a:srgbClr val="64748B"/>
                </a:solidFill>
                <a:latin typeface="Helvetica Neue"/>
                <a:ea typeface="Helvetica Neue"/>
                <a:cs typeface="Helvetica Neue"/>
              </a:rPr>
              <a:t>Best for larger student lists. An Excel template is available in the application.</a:t>
            </a:r>
          </a:p>
        </p:txBody>
      </p:sp>
      <p:sp>
        <p:nvSpPr>
          <p:cNvPr id="24" name="">
            <a:extLst xmlns:a="http://schemas.openxmlformats.org/drawingml/2006/main">
              <a:ext uri="{FF2B5EF4-FFF2-40B4-BE49-F238E27FC236}">
                <a16:creationId xmlns:a16="http://schemas.microsoft.com/office/drawing/2014/main" id="{CFC17982-EBB4-429F-ADD1-DEF8C634D472}"/>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5" name="">
            <a:extLst xmlns:a="http://schemas.openxmlformats.org/drawingml/2006/main">
              <a:ext uri="{FF2B5EF4-FFF2-40B4-BE49-F238E27FC236}">
                <a16:creationId xmlns:a16="http://schemas.microsoft.com/office/drawing/2014/main" id="{7F492D1C-CC46-48A8-BAEE-0E547E6FE41F}"/>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08</a:t>
            </a:r>
          </a:p>
        </p:txBody>
      </p:sp>
    </p:spTree>
    <p:extLst>
      <p:ext uri="{BB962C8B-B14F-4D97-AF65-F5344CB8AC3E}">
        <p14:creationId xmlns:p14="http://schemas.microsoft.com/office/powerpoint/2010/main" val="7737273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B78727-E667-4720-BEF2-9CD99E02DDE9}"/>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DATA VALIDATION</a:t>
            </a:r>
          </a:p>
        </p:txBody>
      </p:sp>
      <p:sp>
        <p:nvSpPr>
          <p:cNvPr id="2" name="">
            <a:extLst xmlns:a="http://schemas.openxmlformats.org/drawingml/2006/main">
              <a:ext uri="{FF2B5EF4-FFF2-40B4-BE49-F238E27FC236}">
                <a16:creationId xmlns:a16="http://schemas.microsoft.com/office/drawing/2014/main" id="{ED1AA34E-2A39-4A81-9252-FAE05D98112A}"/>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Preview reduces unintended record changes</a:t>
            </a:r>
          </a:p>
        </p:txBody>
      </p:sp>
      <p:sp>
        <p:nvSpPr>
          <p:cNvPr id="3" name="">
            <a:extLst xmlns:a="http://schemas.openxmlformats.org/drawingml/2006/main">
              <a:ext uri="{FF2B5EF4-FFF2-40B4-BE49-F238E27FC236}">
                <a16:creationId xmlns:a16="http://schemas.microsoft.com/office/drawing/2014/main" id="{2D4B51A7-84D5-483F-8392-0AAA89CB1024}"/>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graphicFrame>
        <p:nvGraphicFramePr>
          <p:cNvPr id="12" name=""/>
          <p:cNvGraphicFramePr/>
          <p:nvPr/>
        </p:nvGraphicFramePr>
        <p:xfrm>
          <a:off xmlns:a="http://schemas.openxmlformats.org/drawingml/2006/main" x="800100" y="2076450"/>
          <a:ext xmlns:a="http://schemas.openxmlformats.org/drawingml/2006/main" cx="10572750" cy="3048000"/>
        </p:xfrm>
        <a:graphic xmlns:a="http://schemas.openxmlformats.org/drawingml/2006/main">
          <a:graphicData uri="http://schemas.openxmlformats.org/drawingml/2006/table">
            <a:tbl>
              <a:tblPr firstRow="1" bandRow="1"/>
              <a:tblGrid>
                <a:gridCol w="3524250"/>
                <a:gridCol w="3524250"/>
                <a:gridCol w="3524250"/>
              </a:tblGrid>
              <a:tr h="609600">
                <a:tc>
                  <a:txBody>
                    <a:bodyPr/>
                    <a:lstStyle/>
                    <a:p>
                      <a:r>
                        <a:rPr sz="1350" b="1">
                          <a:solidFill>
                            <a:srgbClr val="FFFFFF"/>
                          </a:solidFill>
                          <a:latin typeface="Helvetica Neue"/>
                          <a:ea typeface="Helvetica Neue"/>
                          <a:cs typeface="Helvetica Neue"/>
                        </a:rPr>
                        <a:t>Stage</a:t>
                      </a:r>
                    </a:p>
                  </a:txBody>
                  <a:tcPr marL="91440" marR="91440" marT="45720" marB="45720">
                    <a:solidFill>
                      <a:srgbClr val="0F172A"/>
                    </a:solidFill>
                  </a:tcPr>
                </a:tc>
                <a:tc>
                  <a:txBody>
                    <a:bodyPr/>
                    <a:lstStyle/>
                    <a:p>
                      <a:r>
                        <a:rPr sz="1350" b="1">
                          <a:solidFill>
                            <a:srgbClr val="FFFFFF"/>
                          </a:solidFill>
                          <a:latin typeface="Helvetica Neue"/>
                          <a:ea typeface="Helvetica Neue"/>
                          <a:cs typeface="Helvetica Neue"/>
                        </a:rPr>
                        <a:t>Action</a:t>
                      </a:r>
                    </a:p>
                  </a:txBody>
                  <a:tcPr marL="91440" marR="91440" marT="45720" marB="45720">
                    <a:solidFill>
                      <a:srgbClr val="0F172A"/>
                    </a:solidFill>
                  </a:tcPr>
                </a:tc>
                <a:tc>
                  <a:txBody>
                    <a:bodyPr/>
                    <a:lstStyle/>
                    <a:p>
                      <a:r>
                        <a:rPr sz="1350" b="1">
                          <a:solidFill>
                            <a:srgbClr val="FFFFFF"/>
                          </a:solidFill>
                          <a:latin typeface="Helvetica Neue"/>
                          <a:ea typeface="Helvetica Neue"/>
                          <a:cs typeface="Helvetica Neue"/>
                        </a:rPr>
                        <a:t>What to check</a:t>
                      </a:r>
                    </a:p>
                  </a:txBody>
                  <a:tcPr marL="91440" marR="91440" marT="45720" marB="45720">
                    <a:solidFill>
                      <a:srgbClr val="0F172A"/>
                    </a:solidFill>
                  </a:tcPr>
                </a:tc>
              </a:tr>
              <a:tr h="609600">
                <a:tc>
                  <a:txBody>
                    <a:bodyPr/>
                    <a:lstStyle/>
                    <a:p>
                      <a:r>
                        <a:rPr sz="1275" b="1">
                          <a:solidFill>
                            <a:srgbClr val="5755D9"/>
                          </a:solidFill>
                          <a:latin typeface="Helvetica Neue"/>
                          <a:ea typeface="Helvetica Neue"/>
                          <a:cs typeface="Helvetica Neue"/>
                        </a:rPr>
                        <a:t>1. Prepare</a:t>
                      </a:r>
                    </a:p>
                  </a:txBody>
                  <a:tcPr marL="91440" marR="91440" marT="45720" marB="45720"/>
                </a:tc>
                <a:tc>
                  <a:txBody>
                    <a:bodyPr/>
                    <a:lstStyle/>
                    <a:p>
                      <a:r>
                        <a:rPr sz="1275" b="0">
                          <a:solidFill>
                            <a:srgbClr val="1E293B"/>
                          </a:solidFill>
                          <a:latin typeface="Helvetica Neue"/>
                          <a:ea typeface="Helvetica Neue"/>
                          <a:cs typeface="Helvetica Neue"/>
                        </a:rPr>
                        <a:t>Complete the form or import a file</a:t>
                      </a:r>
                    </a:p>
                  </a:txBody>
                  <a:tcPr marL="91440" marR="91440" marT="45720" marB="45720"/>
                </a:tc>
                <a:tc>
                  <a:txBody>
                    <a:bodyPr/>
                    <a:lstStyle/>
                    <a:p>
                      <a:r>
                        <a:rPr sz="1275" b="0">
                          <a:solidFill>
                            <a:srgbClr val="1E293B"/>
                          </a:solidFill>
                          <a:latin typeface="Helvetica Neue"/>
                          <a:ea typeface="Helvetica Neue"/>
                          <a:cs typeface="Helvetica Neue"/>
                        </a:rPr>
                        <a:t>Column names and class records</a:t>
                      </a:r>
                    </a:p>
                  </a:txBody>
                  <a:tcPr marL="91440" marR="91440" marT="45720" marB="45720"/>
                </a:tc>
              </a:tr>
              <a:tr h="609600">
                <a:tc>
                  <a:txBody>
                    <a:bodyPr/>
                    <a:lstStyle/>
                    <a:p>
                      <a:r>
                        <a:rPr sz="1275" b="1">
                          <a:solidFill>
                            <a:srgbClr val="5755D9"/>
                          </a:solidFill>
                          <a:latin typeface="Helvetica Neue"/>
                          <a:ea typeface="Helvetica Neue"/>
                          <a:cs typeface="Helvetica Neue"/>
                        </a:rPr>
                        <a:t>2. Validate</a:t>
                      </a:r>
                    </a:p>
                  </a:txBody>
                  <a:tcPr marL="91440" marR="91440" marT="45720" marB="45720"/>
                </a:tc>
                <a:tc>
                  <a:txBody>
                    <a:bodyPr/>
                    <a:lstStyle/>
                    <a:p>
                      <a:r>
                        <a:rPr sz="1275" b="0">
                          <a:solidFill>
                            <a:srgbClr val="1E293B"/>
                          </a:solidFill>
                          <a:latin typeface="Helvetica Neue"/>
                          <a:ea typeface="Helvetica Neue"/>
                          <a:cs typeface="Helvetica Neue"/>
                        </a:rPr>
                        <a:t>Select Validate &amp; Preview</a:t>
                      </a:r>
                    </a:p>
                  </a:txBody>
                  <a:tcPr marL="91440" marR="91440" marT="45720" marB="45720"/>
                </a:tc>
                <a:tc>
                  <a:txBody>
                    <a:bodyPr/>
                    <a:lstStyle/>
                    <a:p>
                      <a:r>
                        <a:rPr sz="1275" b="0">
                          <a:solidFill>
                            <a:srgbClr val="1E293B"/>
                          </a:solidFill>
                          <a:latin typeface="Helvetica Neue"/>
                          <a:ea typeface="Helvetica Neue"/>
                          <a:cs typeface="Helvetica Neue"/>
                        </a:rPr>
                        <a:t>Create, update, unchanged, or error</a:t>
                      </a:r>
                    </a:p>
                  </a:txBody>
                  <a:tcPr marL="91440" marR="91440" marT="45720" marB="45720"/>
                </a:tc>
              </a:tr>
              <a:tr h="609600">
                <a:tc>
                  <a:txBody>
                    <a:bodyPr/>
                    <a:lstStyle/>
                    <a:p>
                      <a:r>
                        <a:rPr sz="1275" b="1">
                          <a:solidFill>
                            <a:srgbClr val="5755D9"/>
                          </a:solidFill>
                          <a:latin typeface="Helvetica Neue"/>
                          <a:ea typeface="Helvetica Neue"/>
                          <a:cs typeface="Helvetica Neue"/>
                        </a:rPr>
                        <a:t>3. Correct</a:t>
                      </a:r>
                    </a:p>
                  </a:txBody>
                  <a:tcPr marL="91440" marR="91440" marT="45720" marB="45720"/>
                </a:tc>
                <a:tc>
                  <a:txBody>
                    <a:bodyPr/>
                    <a:lstStyle/>
                    <a:p>
                      <a:r>
                        <a:rPr sz="1275" b="0">
                          <a:solidFill>
                            <a:srgbClr val="1E293B"/>
                          </a:solidFill>
                          <a:latin typeface="Helvetica Neue"/>
                          <a:ea typeface="Helvetica Neue"/>
                          <a:cs typeface="Helvetica Neue"/>
                        </a:rPr>
                        <a:t>Fix any problem rows</a:t>
                      </a:r>
                    </a:p>
                  </a:txBody>
                  <a:tcPr marL="91440" marR="91440" marT="45720" marB="45720"/>
                </a:tc>
                <a:tc>
                  <a:txBody>
                    <a:bodyPr/>
                    <a:lstStyle/>
                    <a:p>
                      <a:r>
                        <a:rPr sz="1275" b="0">
                          <a:solidFill>
                            <a:srgbClr val="1E293B"/>
                          </a:solidFill>
                          <a:latin typeface="Helvetica Neue"/>
                          <a:ea typeface="Helvetica Neue"/>
                          <a:cs typeface="Helvetica Neue"/>
                        </a:rPr>
                        <a:t>The preview must be valid</a:t>
                      </a:r>
                    </a:p>
                  </a:txBody>
                  <a:tcPr marL="91440" marR="91440" marT="45720" marB="45720"/>
                </a:tc>
              </a:tr>
              <a:tr h="609600">
                <a:tc>
                  <a:txBody>
                    <a:bodyPr/>
                    <a:lstStyle/>
                    <a:p>
                      <a:r>
                        <a:rPr sz="1275" b="1">
                          <a:solidFill>
                            <a:srgbClr val="5755D9"/>
                          </a:solidFill>
                          <a:latin typeface="Helvetica Neue"/>
                          <a:ea typeface="Helvetica Neue"/>
                          <a:cs typeface="Helvetica Neue"/>
                        </a:rPr>
                        <a:t>4. Apply</a:t>
                      </a:r>
                    </a:p>
                  </a:txBody>
                  <a:tcPr marL="91440" marR="91440" marT="45720" marB="45720"/>
                </a:tc>
                <a:tc>
                  <a:txBody>
                    <a:bodyPr/>
                    <a:lstStyle/>
                    <a:p>
                      <a:r>
                        <a:rPr sz="1275" b="0">
                          <a:solidFill>
                            <a:srgbClr val="1E293B"/>
                          </a:solidFill>
                          <a:latin typeface="Helvetica Neue"/>
                          <a:ea typeface="Helvetica Neue"/>
                          <a:cs typeface="Helvetica Neue"/>
                        </a:rPr>
                        <a:t>Confirm Apply Data</a:t>
                      </a:r>
                    </a:p>
                  </a:txBody>
                  <a:tcPr marL="91440" marR="91440" marT="45720" marB="45720"/>
                </a:tc>
                <a:tc>
                  <a:txBody>
                    <a:bodyPr/>
                    <a:lstStyle/>
                    <a:p>
                      <a:r>
                        <a:rPr sz="1275" b="0">
                          <a:solidFill>
                            <a:srgbClr val="1E293B"/>
                          </a:solidFill>
                          <a:latin typeface="Helvetica Neue"/>
                          <a:ea typeface="Helvetica Neue"/>
                          <a:cs typeface="Helvetica Neue"/>
                        </a:rPr>
                        <a:t>Other records remain in place</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30FC08FF-D382-41F7-B479-440A15CC17B8}"/>
              </a:ext>
            </a:extLst>
          </p:cNvPr>
          <p:cNvSpPr>
            <a:spLocks xmlns:a="http://schemas.openxmlformats.org/drawingml/2006/main" noGrp="1"/>
          </p:cNvSpPr>
          <p:nvPr/>
        </p:nvSpPr>
        <p:spPr>
          <a:xfrm xmlns:a="http://schemas.openxmlformats.org/drawingml/2006/main">
            <a:off x="800100" y="541020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5755D9"/>
                </a:solidFill>
                <a:latin typeface="Helvetica Neue"/>
                <a:ea typeface="Helvetica Neue"/>
                <a:cs typeface="Helvetica Neue"/>
              </a:defRPr>
            </a:pPr>
            <a:r>
              <a:rPr sz="1425" b="1">
                <a:solidFill>
                  <a:srgbClr val="5755D9"/>
                </a:solidFill>
                <a:latin typeface="Helvetica Neue"/>
                <a:ea typeface="Helvetica Neue"/>
                <a:cs typeface="Helvetica Neue"/>
              </a:rPr>
              <a:t>Import limit: 5,000 rows per operation</a:t>
            </a:r>
          </a:p>
        </p:txBody>
      </p:sp>
      <p:sp>
        <p:nvSpPr>
          <p:cNvPr id="6" name="">
            <a:extLst xmlns:a="http://schemas.openxmlformats.org/drawingml/2006/main">
              <a:ext uri="{FF2B5EF4-FFF2-40B4-BE49-F238E27FC236}">
                <a16:creationId xmlns:a16="http://schemas.microsoft.com/office/drawing/2014/main" id="{A06A024D-ED39-40EC-B931-F4BA237B7484}"/>
              </a:ext>
            </a:extLst>
          </p:cNvPr>
          <p:cNvSpPr>
            <a:spLocks xmlns:a="http://schemas.openxmlformats.org/drawingml/2006/main" noGrp="1"/>
          </p:cNvSpPr>
          <p:nvPr/>
        </p:nvSpPr>
        <p:spPr>
          <a:xfrm xmlns:a="http://schemas.openxmlformats.org/drawingml/2006/main">
            <a:off x="6477000" y="5410200"/>
            <a:ext cx="4895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425" b="0">
                <a:solidFill>
                  <a:srgbClr val="64748B"/>
                </a:solidFill>
                <a:latin typeface="Helvetica Neue"/>
                <a:ea typeface="Helvetica Neue"/>
                <a:cs typeface="Helvetica Neue"/>
              </a:defRPr>
            </a:pPr>
            <a:r>
              <a:rPr sz="1425" b="0">
                <a:solidFill>
                  <a:srgbClr val="64748B"/>
                </a:solidFill>
                <a:latin typeface="Helvetica Neue"/>
                <a:ea typeface="Helvetica Neue"/>
                <a:cs typeface="Helvetica Neue"/>
              </a:rPr>
              <a:t>Omitted records are not deleted.</a:t>
            </a:r>
          </a:p>
        </p:txBody>
      </p:sp>
      <p:sp>
        <p:nvSpPr>
          <p:cNvPr id="7" name="">
            <a:extLst xmlns:a="http://schemas.openxmlformats.org/drawingml/2006/main">
              <a:ext uri="{FF2B5EF4-FFF2-40B4-BE49-F238E27FC236}">
                <a16:creationId xmlns:a16="http://schemas.microsoft.com/office/drawing/2014/main" id="{9525B223-3F24-43B5-A668-C56312518866}"/>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8" name="">
            <a:extLst xmlns:a="http://schemas.openxmlformats.org/drawingml/2006/main">
              <a:ext uri="{FF2B5EF4-FFF2-40B4-BE49-F238E27FC236}">
                <a16:creationId xmlns:a16="http://schemas.microsoft.com/office/drawing/2014/main" id="{AD0D3D99-C6E9-41BC-B2C5-2353CEFD4419}"/>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09</a:t>
            </a:r>
          </a:p>
        </p:txBody>
      </p:sp>
    </p:spTree>
    <p:extLst>
      <p:ext uri="{BB962C8B-B14F-4D97-AF65-F5344CB8AC3E}">
        <p14:creationId xmlns:p14="http://schemas.microsoft.com/office/powerpoint/2010/main" val="606174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34D6A88-E6A1-4425-8A76-4CE3A81C286A}"/>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DAILY WORK</a:t>
            </a:r>
          </a:p>
        </p:txBody>
      </p:sp>
      <p:sp>
        <p:nvSpPr>
          <p:cNvPr id="2" name="">
            <a:extLst xmlns:a="http://schemas.openxmlformats.org/drawingml/2006/main">
              <a:ext uri="{FF2B5EF4-FFF2-40B4-BE49-F238E27FC236}">
                <a16:creationId xmlns:a16="http://schemas.microsoft.com/office/drawing/2014/main" id="{05097BD6-B38A-4156-8520-C5056CFBBE35}"/>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Attendance entry starts with the correct class and date</a:t>
            </a:r>
          </a:p>
        </p:txBody>
      </p:sp>
      <p:sp>
        <p:nvSpPr>
          <p:cNvPr id="3" name="">
            <a:extLst xmlns:a="http://schemas.openxmlformats.org/drawingml/2006/main">
              <a:ext uri="{FF2B5EF4-FFF2-40B4-BE49-F238E27FC236}">
                <a16:creationId xmlns:a16="http://schemas.microsoft.com/office/drawing/2014/main" id="{0E08F9C7-0A5A-4C1D-820C-C3965F57F890}"/>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39C1029C-C00A-4504-B373-943013787672}"/>
              </a:ext>
            </a:extLst>
          </p:cNvPr>
          <p:cNvSpPr>
            <a:spLocks xmlns:a="http://schemas.openxmlformats.org/drawingml/2006/main" noGrp="1"/>
          </p:cNvSpPr>
          <p:nvPr/>
        </p:nvSpPr>
        <p:spPr>
          <a:xfrm xmlns:a="http://schemas.openxmlformats.org/drawingml/2006/main">
            <a:off x="762000" y="1924050"/>
            <a:ext cx="10668000" cy="95250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0F16F4-F7F8-4F7A-B106-94C99BDC9FEC}"/>
              </a:ext>
            </a:extLst>
          </p:cNvPr>
          <p:cNvSpPr>
            <a:spLocks xmlns:a="http://schemas.openxmlformats.org/drawingml/2006/main" noGrp="1"/>
          </p:cNvSpPr>
          <p:nvPr/>
        </p:nvSpPr>
        <p:spPr>
          <a:xfrm xmlns:a="http://schemas.openxmlformats.org/drawingml/2006/main">
            <a:off x="1066800" y="20955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ACADEMIC YEAR</a:t>
            </a:r>
          </a:p>
        </p:txBody>
      </p:sp>
      <p:sp>
        <p:nvSpPr>
          <p:cNvPr id="6" name="">
            <a:extLst xmlns:a="http://schemas.openxmlformats.org/drawingml/2006/main">
              <a:ext uri="{FF2B5EF4-FFF2-40B4-BE49-F238E27FC236}">
                <a16:creationId xmlns:a16="http://schemas.microsoft.com/office/drawing/2014/main" id="{0F59F12A-8311-4A88-81A4-935F9135AAA5}"/>
              </a:ext>
            </a:extLst>
          </p:cNvPr>
          <p:cNvSpPr>
            <a:spLocks xmlns:a="http://schemas.openxmlformats.org/drawingml/2006/main" noGrp="1"/>
          </p:cNvSpPr>
          <p:nvPr/>
        </p:nvSpPr>
        <p:spPr>
          <a:xfrm xmlns:a="http://schemas.openxmlformats.org/drawingml/2006/main">
            <a:off x="1066800" y="24003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2026/2027 - Semester 1</a:t>
            </a:r>
          </a:p>
        </p:txBody>
      </p:sp>
      <p:sp>
        <p:nvSpPr>
          <p:cNvPr id="7" name="">
            <a:extLst xmlns:a="http://schemas.openxmlformats.org/drawingml/2006/main">
              <a:ext uri="{FF2B5EF4-FFF2-40B4-BE49-F238E27FC236}">
                <a16:creationId xmlns:a16="http://schemas.microsoft.com/office/drawing/2014/main" id="{0BB231B4-4F0B-4CAB-8061-978E54078696}"/>
              </a:ext>
            </a:extLst>
          </p:cNvPr>
          <p:cNvSpPr>
            <a:spLocks xmlns:a="http://schemas.openxmlformats.org/drawingml/2006/main" noGrp="1"/>
          </p:cNvSpPr>
          <p:nvPr/>
        </p:nvSpPr>
        <p:spPr>
          <a:xfrm xmlns:a="http://schemas.openxmlformats.org/drawingml/2006/main">
            <a:off x="4419600" y="20955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CLASS</a:t>
            </a:r>
          </a:p>
        </p:txBody>
      </p:sp>
      <p:sp>
        <p:nvSpPr>
          <p:cNvPr id="8" name="">
            <a:extLst xmlns:a="http://schemas.openxmlformats.org/drawingml/2006/main">
              <a:ext uri="{FF2B5EF4-FFF2-40B4-BE49-F238E27FC236}">
                <a16:creationId xmlns:a16="http://schemas.microsoft.com/office/drawing/2014/main" id="{F15D423F-5736-425C-A958-F44389A050D0}"/>
              </a:ext>
            </a:extLst>
          </p:cNvPr>
          <p:cNvSpPr>
            <a:spLocks xmlns:a="http://schemas.openxmlformats.org/drawingml/2006/main" noGrp="1"/>
          </p:cNvSpPr>
          <p:nvPr/>
        </p:nvSpPr>
        <p:spPr>
          <a:xfrm xmlns:a="http://schemas.openxmlformats.org/drawingml/2006/main">
            <a:off x="4419600" y="24003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CLASS I A</a:t>
            </a:r>
          </a:p>
        </p:txBody>
      </p:sp>
      <p:sp>
        <p:nvSpPr>
          <p:cNvPr id="9" name="">
            <a:extLst xmlns:a="http://schemas.openxmlformats.org/drawingml/2006/main">
              <a:ext uri="{FF2B5EF4-FFF2-40B4-BE49-F238E27FC236}">
                <a16:creationId xmlns:a16="http://schemas.microsoft.com/office/drawing/2014/main" id="{106AF9C1-DF57-48C1-9091-C55EF24462C1}"/>
              </a:ext>
            </a:extLst>
          </p:cNvPr>
          <p:cNvSpPr>
            <a:spLocks xmlns:a="http://schemas.openxmlformats.org/drawingml/2006/main" noGrp="1"/>
          </p:cNvSpPr>
          <p:nvPr/>
        </p:nvSpPr>
        <p:spPr>
          <a:xfrm xmlns:a="http://schemas.openxmlformats.org/drawingml/2006/main">
            <a:off x="7772400" y="209550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75" b="1">
                <a:solidFill>
                  <a:srgbClr val="64748B"/>
                </a:solidFill>
                <a:latin typeface="Helvetica Neue"/>
                <a:ea typeface="Helvetica Neue"/>
                <a:cs typeface="Helvetica Neue"/>
              </a:defRPr>
            </a:pPr>
            <a:r>
              <a:rPr sz="975" b="1">
                <a:solidFill>
                  <a:srgbClr val="64748B"/>
                </a:solidFill>
                <a:latin typeface="Helvetica Neue"/>
                <a:ea typeface="Helvetica Neue"/>
                <a:cs typeface="Helvetica Neue"/>
              </a:rPr>
              <a:t>DATE</a:t>
            </a:r>
          </a:p>
        </p:txBody>
      </p:sp>
      <p:sp>
        <p:nvSpPr>
          <p:cNvPr id="10" name="">
            <a:extLst xmlns:a="http://schemas.openxmlformats.org/drawingml/2006/main">
              <a:ext uri="{FF2B5EF4-FFF2-40B4-BE49-F238E27FC236}">
                <a16:creationId xmlns:a16="http://schemas.microsoft.com/office/drawing/2014/main" id="{0D1AC8B4-899C-469C-AE61-65E21CFB363A}"/>
              </a:ext>
            </a:extLst>
          </p:cNvPr>
          <p:cNvSpPr>
            <a:spLocks xmlns:a="http://schemas.openxmlformats.org/drawingml/2006/main" noGrp="1"/>
          </p:cNvSpPr>
          <p:nvPr/>
        </p:nvSpPr>
        <p:spPr>
          <a:xfrm xmlns:a="http://schemas.openxmlformats.org/drawingml/2006/main">
            <a:off x="7772400" y="24003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172A"/>
                </a:solidFill>
                <a:latin typeface="Helvetica Neue"/>
                <a:ea typeface="Helvetica Neue"/>
                <a:cs typeface="Helvetica Neue"/>
              </a:defRPr>
            </a:pPr>
            <a:r>
              <a:rPr sz="1350" b="1">
                <a:solidFill>
                  <a:srgbClr val="0F172A"/>
                </a:solidFill>
                <a:latin typeface="Helvetica Neue"/>
                <a:ea typeface="Helvetica Neue"/>
                <a:cs typeface="Helvetica Neue"/>
              </a:rPr>
              <a:t>2026-08-26</a:t>
            </a:r>
          </a:p>
        </p:txBody>
      </p:sp>
      <p:sp>
        <p:nvSpPr>
          <p:cNvPr id="11" name="">
            <a:extLst xmlns:a="http://schemas.openxmlformats.org/drawingml/2006/main">
              <a:ext uri="{FF2B5EF4-FFF2-40B4-BE49-F238E27FC236}">
                <a16:creationId xmlns:a16="http://schemas.microsoft.com/office/drawing/2014/main" id="{EC2C180E-8728-4226-A72A-94491C4DCC3A}"/>
              </a:ext>
            </a:extLst>
          </p:cNvPr>
          <p:cNvSpPr>
            <a:spLocks xmlns:a="http://schemas.openxmlformats.org/drawingml/2006/main" noGrp="1"/>
          </p:cNvSpPr>
          <p:nvPr/>
        </p:nvSpPr>
        <p:spPr>
          <a:xfrm xmlns:a="http://schemas.openxmlformats.org/drawingml/2006/main">
            <a:off x="781050" y="331470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The student list appears after search</a:t>
            </a:r>
          </a:p>
        </p:txBody>
      </p:sp>
      <p:sp>
        <p:nvSpPr>
          <p:cNvPr id="12" name="">
            <a:extLst xmlns:a="http://schemas.openxmlformats.org/drawingml/2006/main">
              <a:ext uri="{FF2B5EF4-FFF2-40B4-BE49-F238E27FC236}">
                <a16:creationId xmlns:a16="http://schemas.microsoft.com/office/drawing/2014/main" id="{C0A6925D-B2CF-4437-830C-338F4CD85AF6}"/>
              </a:ext>
            </a:extLst>
          </p:cNvPr>
          <p:cNvSpPr>
            <a:spLocks xmlns:a="http://schemas.openxmlformats.org/drawingml/2006/main" noGrp="1"/>
          </p:cNvSpPr>
          <p:nvPr/>
        </p:nvSpPr>
        <p:spPr>
          <a:xfrm xmlns:a="http://schemas.openxmlformats.org/drawingml/2006/main">
            <a:off x="857250" y="39814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5755D9"/>
                </a:solidFill>
                <a:latin typeface="Helvetica Neue"/>
                <a:ea typeface="Helvetica Neue"/>
                <a:cs typeface="Helvetica Neue"/>
              </a:defRPr>
            </a:pPr>
            <a:r>
              <a:rPr sz="1950" b="1">
                <a:solidFill>
                  <a:srgbClr val="5755D9"/>
                </a:solidFill>
                <a:latin typeface="Helvetica Neue"/>
                <a:ea typeface="Helvetica Neue"/>
                <a:cs typeface="Helvetica Neue"/>
              </a:rPr>
              <a:t>1</a:t>
            </a:r>
          </a:p>
        </p:txBody>
      </p:sp>
      <p:sp>
        <p:nvSpPr>
          <p:cNvPr id="13" name="">
            <a:extLst xmlns:a="http://schemas.openxmlformats.org/drawingml/2006/main">
              <a:ext uri="{FF2B5EF4-FFF2-40B4-BE49-F238E27FC236}">
                <a16:creationId xmlns:a16="http://schemas.microsoft.com/office/drawing/2014/main" id="{A8007A84-ABB0-4EA4-A8FD-74531BC1184F}"/>
              </a:ext>
            </a:extLst>
          </p:cNvPr>
          <p:cNvSpPr>
            <a:spLocks xmlns:a="http://schemas.openxmlformats.org/drawingml/2006/main" noGrp="1"/>
          </p:cNvSpPr>
          <p:nvPr/>
        </p:nvSpPr>
        <p:spPr>
          <a:xfrm xmlns:a="http://schemas.openxmlformats.org/drawingml/2006/main">
            <a:off x="1447800" y="39814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E293B"/>
                </a:solidFill>
                <a:latin typeface="Helvetica Neue"/>
                <a:ea typeface="Helvetica Neue"/>
                <a:cs typeface="Helvetica Neue"/>
              </a:defRPr>
            </a:pPr>
            <a:r>
              <a:rPr sz="1500" b="0">
                <a:solidFill>
                  <a:srgbClr val="1E293B"/>
                </a:solidFill>
                <a:latin typeface="Helvetica Neue"/>
                <a:ea typeface="Helvetica Neue"/>
                <a:cs typeface="Helvetica Neue"/>
              </a:rPr>
              <a:t>Confirm the academic year and class</a:t>
            </a:r>
          </a:p>
        </p:txBody>
      </p:sp>
      <p:sp>
        <p:nvSpPr>
          <p:cNvPr id="14" name="">
            <a:extLst xmlns:a="http://schemas.openxmlformats.org/drawingml/2006/main">
              <a:ext uri="{FF2B5EF4-FFF2-40B4-BE49-F238E27FC236}">
                <a16:creationId xmlns:a16="http://schemas.microsoft.com/office/drawing/2014/main" id="{A7D7A6C5-AC50-4C58-87F7-8EC6C7FF67D1}"/>
              </a:ext>
            </a:extLst>
          </p:cNvPr>
          <p:cNvSpPr>
            <a:spLocks xmlns:a="http://schemas.openxmlformats.org/drawingml/2006/main" noGrp="1"/>
          </p:cNvSpPr>
          <p:nvPr/>
        </p:nvSpPr>
        <p:spPr>
          <a:xfrm xmlns:a="http://schemas.openxmlformats.org/drawingml/2006/main">
            <a:off x="857250" y="45529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5755D9"/>
                </a:solidFill>
                <a:latin typeface="Helvetica Neue"/>
                <a:ea typeface="Helvetica Neue"/>
                <a:cs typeface="Helvetica Neue"/>
              </a:defRPr>
            </a:pPr>
            <a:r>
              <a:rPr sz="1950" b="1">
                <a:solidFill>
                  <a:srgbClr val="5755D9"/>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94244C49-EE5D-4264-A396-1EF3CC9A637D}"/>
              </a:ext>
            </a:extLst>
          </p:cNvPr>
          <p:cNvSpPr>
            <a:spLocks xmlns:a="http://schemas.openxmlformats.org/drawingml/2006/main" noGrp="1"/>
          </p:cNvSpPr>
          <p:nvPr/>
        </p:nvSpPr>
        <p:spPr>
          <a:xfrm xmlns:a="http://schemas.openxmlformats.org/drawingml/2006/main">
            <a:off x="1447800" y="45529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E293B"/>
                </a:solidFill>
                <a:latin typeface="Helvetica Neue"/>
                <a:ea typeface="Helvetica Neue"/>
                <a:cs typeface="Helvetica Neue"/>
              </a:defRPr>
            </a:pPr>
            <a:r>
              <a:rPr sz="1500" b="0">
                <a:solidFill>
                  <a:srgbClr val="1E293B"/>
                </a:solidFill>
                <a:latin typeface="Helvetica Neue"/>
                <a:ea typeface="Helvetica Neue"/>
                <a:cs typeface="Helvetica Neue"/>
              </a:rPr>
              <a:t>Check the date before recording a status</a:t>
            </a:r>
          </a:p>
        </p:txBody>
      </p:sp>
      <p:sp>
        <p:nvSpPr>
          <p:cNvPr id="16" name="">
            <a:extLst xmlns:a="http://schemas.openxmlformats.org/drawingml/2006/main">
              <a:ext uri="{FF2B5EF4-FFF2-40B4-BE49-F238E27FC236}">
                <a16:creationId xmlns:a16="http://schemas.microsoft.com/office/drawing/2014/main" id="{4B4817FE-8FA5-4B16-AFF9-835DC7C13662}"/>
              </a:ext>
            </a:extLst>
          </p:cNvPr>
          <p:cNvSpPr>
            <a:spLocks xmlns:a="http://schemas.openxmlformats.org/drawingml/2006/main" noGrp="1"/>
          </p:cNvSpPr>
          <p:nvPr/>
        </p:nvSpPr>
        <p:spPr>
          <a:xfrm xmlns:a="http://schemas.openxmlformats.org/drawingml/2006/main">
            <a:off x="857250" y="5124450"/>
            <a:ext cx="419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5755D9"/>
                </a:solidFill>
                <a:latin typeface="Helvetica Neue"/>
                <a:ea typeface="Helvetica Neue"/>
                <a:cs typeface="Helvetica Neue"/>
              </a:defRPr>
            </a:pPr>
            <a:r>
              <a:rPr sz="1950" b="1">
                <a:solidFill>
                  <a:srgbClr val="5755D9"/>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29834187-E8F5-4DF8-815E-2DE0A1960393}"/>
              </a:ext>
            </a:extLst>
          </p:cNvPr>
          <p:cNvSpPr>
            <a:spLocks xmlns:a="http://schemas.openxmlformats.org/drawingml/2006/main" noGrp="1"/>
          </p:cNvSpPr>
          <p:nvPr/>
        </p:nvSpPr>
        <p:spPr>
          <a:xfrm xmlns:a="http://schemas.openxmlformats.org/drawingml/2006/main">
            <a:off x="1447800" y="51244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E293B"/>
                </a:solidFill>
                <a:latin typeface="Helvetica Neue"/>
                <a:ea typeface="Helvetica Neue"/>
                <a:cs typeface="Helvetica Neue"/>
              </a:defRPr>
            </a:pPr>
            <a:r>
              <a:rPr sz="1500" b="0">
                <a:solidFill>
                  <a:srgbClr val="1E293B"/>
                </a:solidFill>
                <a:latin typeface="Helvetica Neue"/>
                <a:ea typeface="Helvetica Neue"/>
                <a:cs typeface="Helvetica Neue"/>
              </a:rPr>
              <a:t>Save and check the success message</a:t>
            </a:r>
          </a:p>
        </p:txBody>
      </p:sp>
      <p:sp>
        <p:nvSpPr>
          <p:cNvPr id="18" name="">
            <a:extLst xmlns:a="http://schemas.openxmlformats.org/drawingml/2006/main">
              <a:ext uri="{FF2B5EF4-FFF2-40B4-BE49-F238E27FC236}">
                <a16:creationId xmlns:a16="http://schemas.microsoft.com/office/drawing/2014/main" id="{BD59B9B7-E2FB-4D27-938E-19A2B6DE2722}"/>
              </a:ext>
            </a:extLst>
          </p:cNvPr>
          <p:cNvSpPr>
            <a:spLocks xmlns:a="http://schemas.openxmlformats.org/drawingml/2006/main" noGrp="1"/>
          </p:cNvSpPr>
          <p:nvPr/>
        </p:nvSpPr>
        <p:spPr>
          <a:xfrm xmlns:a="http://schemas.openxmlformats.org/drawingml/2006/main">
            <a:off x="7239000" y="3543300"/>
            <a:ext cx="3429000" cy="1790700"/>
          </a:xfrm>
          <a:prstGeom xmlns:a="http://schemas.openxmlformats.org/drawingml/2006/main" prst="rect">
            <a:avLst/>
          </a:prstGeom>
          <a:solidFill xmlns:a="http://schemas.openxmlformats.org/drawingml/2006/main">
            <a:srgbClr val="0F172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5686815-604D-46FA-9987-18EC40DC70DC}"/>
              </a:ext>
            </a:extLst>
          </p:cNvPr>
          <p:cNvSpPr>
            <a:spLocks xmlns:a="http://schemas.openxmlformats.org/drawingml/2006/main" noGrp="1"/>
          </p:cNvSpPr>
          <p:nvPr/>
        </p:nvSpPr>
        <p:spPr>
          <a:xfrm xmlns:a="http://schemas.openxmlformats.org/drawingml/2006/main">
            <a:off x="7581900" y="3848100"/>
            <a:ext cx="2724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Safe practice</a:t>
            </a:r>
          </a:p>
        </p:txBody>
      </p:sp>
      <p:sp>
        <p:nvSpPr>
          <p:cNvPr id="20" name="">
            <a:extLst xmlns:a="http://schemas.openxmlformats.org/drawingml/2006/main">
              <a:ext uri="{FF2B5EF4-FFF2-40B4-BE49-F238E27FC236}">
                <a16:creationId xmlns:a16="http://schemas.microsoft.com/office/drawing/2014/main" id="{E6EFE6A5-0199-4195-949E-7C3E3B63CA65}"/>
              </a:ext>
            </a:extLst>
          </p:cNvPr>
          <p:cNvSpPr>
            <a:spLocks xmlns:a="http://schemas.openxmlformats.org/drawingml/2006/main" noGrp="1"/>
          </p:cNvSpPr>
          <p:nvPr/>
        </p:nvSpPr>
        <p:spPr>
          <a:xfrm xmlns:a="http://schemas.openxmlformats.org/drawingml/2006/main">
            <a:off x="7581900" y="4362450"/>
            <a:ext cx="2724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a:solidFill>
                  <a:srgbClr val="CBD5E1"/>
                </a:solidFill>
                <a:latin typeface="Helvetica Neue"/>
                <a:ea typeface="Helvetica Neue"/>
                <a:cs typeface="Helvetica Neue"/>
              </a:defRPr>
            </a:pPr>
            <a:r>
              <a:rPr sz="1425" b="0">
                <a:solidFill>
                  <a:srgbClr val="CBD5E1"/>
                </a:solidFill>
                <a:latin typeface="Helvetica Neue"/>
                <a:ea typeface="Helvetica Neue"/>
                <a:cs typeface="Helvetica Neue"/>
              </a:rPr>
              <a:t>State the class and date when reviewing attendance with another teacher.</a:t>
            </a:r>
          </a:p>
        </p:txBody>
      </p:sp>
      <p:sp>
        <p:nvSpPr>
          <p:cNvPr id="21" name="">
            <a:extLst xmlns:a="http://schemas.openxmlformats.org/drawingml/2006/main">
              <a:ext uri="{FF2B5EF4-FFF2-40B4-BE49-F238E27FC236}">
                <a16:creationId xmlns:a16="http://schemas.microsoft.com/office/drawing/2014/main" id="{6DB7BDD7-3919-4D0D-BFE7-E8D7ABEC26EC}"/>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22" name="">
            <a:extLst xmlns:a="http://schemas.openxmlformats.org/drawingml/2006/main">
              <a:ext uri="{FF2B5EF4-FFF2-40B4-BE49-F238E27FC236}">
                <a16:creationId xmlns:a16="http://schemas.microsoft.com/office/drawing/2014/main" id="{6C8704A3-25C2-4BCC-BEE9-1DCFE3D57355}"/>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10</a:t>
            </a:r>
          </a:p>
        </p:txBody>
      </p:sp>
    </p:spTree>
    <p:extLst>
      <p:ext uri="{BB962C8B-B14F-4D97-AF65-F5344CB8AC3E}">
        <p14:creationId xmlns:p14="http://schemas.microsoft.com/office/powerpoint/2010/main" val="10519682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AA15DD2-2429-4984-8F1D-5F653C078EA6}"/>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MONITORING</a:t>
            </a:r>
          </a:p>
        </p:txBody>
      </p:sp>
      <p:sp>
        <p:nvSpPr>
          <p:cNvPr id="2" name="">
            <a:extLst xmlns:a="http://schemas.openxmlformats.org/drawingml/2006/main">
              <a:ext uri="{FF2B5EF4-FFF2-40B4-BE49-F238E27FC236}">
                <a16:creationId xmlns:a16="http://schemas.microsoft.com/office/drawing/2014/main" id="{6D11BA13-E101-4ABC-A66C-D3D3A50A7533}"/>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Reports turn daily entries into class information</a:t>
            </a:r>
          </a:p>
        </p:txBody>
      </p:sp>
      <p:sp>
        <p:nvSpPr>
          <p:cNvPr id="3" name="">
            <a:extLst xmlns:a="http://schemas.openxmlformats.org/drawingml/2006/main">
              <a:ext uri="{FF2B5EF4-FFF2-40B4-BE49-F238E27FC236}">
                <a16:creationId xmlns:a16="http://schemas.microsoft.com/office/drawing/2014/main" id="{7ACDF565-FD9B-42C1-9EF5-E942C6166020}"/>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5C99940F-DC7C-4153-BFE4-658A847DF408}"/>
              </a:ext>
            </a:extLst>
          </p:cNvPr>
          <p:cNvSpPr>
            <a:spLocks xmlns:a="http://schemas.openxmlformats.org/drawingml/2006/main" noGrp="1"/>
          </p:cNvSpPr>
          <p:nvPr/>
        </p:nvSpPr>
        <p:spPr>
          <a:xfrm xmlns:a="http://schemas.openxmlformats.org/drawingml/2006/main">
            <a:off x="819150" y="194310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5755D9"/>
                </a:solidFill>
                <a:latin typeface="Helvetica Neue"/>
                <a:ea typeface="Helvetica Neue"/>
                <a:cs typeface="Helvetica Neue"/>
              </a:defRPr>
            </a:pPr>
            <a:r>
              <a:rPr sz="1650" b="1">
                <a:solidFill>
                  <a:srgbClr val="5755D9"/>
                </a:solidFill>
                <a:latin typeface="Helvetica Neue"/>
                <a:ea typeface="Helvetica Neue"/>
                <a:cs typeface="Helvetica Neue"/>
              </a:rPr>
              <a:t>Available filters</a:t>
            </a:r>
          </a:p>
        </p:txBody>
      </p:sp>
      <p:sp>
        <p:nvSpPr>
          <p:cNvPr id="5" name="">
            <a:extLst xmlns:a="http://schemas.openxmlformats.org/drawingml/2006/main">
              <a:ext uri="{FF2B5EF4-FFF2-40B4-BE49-F238E27FC236}">
                <a16:creationId xmlns:a16="http://schemas.microsoft.com/office/drawing/2014/main" id="{D39AE2B4-89E6-4BD6-8574-92E04717238D}"/>
              </a:ext>
            </a:extLst>
          </p:cNvPr>
          <p:cNvSpPr>
            <a:spLocks xmlns:a="http://schemas.openxmlformats.org/drawingml/2006/main" noGrp="1"/>
          </p:cNvSpPr>
          <p:nvPr/>
        </p:nvSpPr>
        <p:spPr>
          <a:xfrm xmlns:a="http://schemas.openxmlformats.org/drawingml/2006/main">
            <a:off x="838200" y="2400300"/>
            <a:ext cx="34290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Academic year</a:t>
            </a:r>
          </a:p>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Class</a:t>
            </a:r>
          </a:p>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Start and end dates</a:t>
            </a:r>
          </a:p>
        </p:txBody>
      </p:sp>
      <p:sp>
        <p:nvSpPr>
          <p:cNvPr id="6" name="">
            <a:extLst xmlns:a="http://schemas.openxmlformats.org/drawingml/2006/main">
              <a:ext uri="{FF2B5EF4-FFF2-40B4-BE49-F238E27FC236}">
                <a16:creationId xmlns:a16="http://schemas.microsoft.com/office/drawing/2014/main" id="{06994841-7A16-4194-A7D0-0991F6807F8F}"/>
              </a:ext>
            </a:extLst>
          </p:cNvPr>
          <p:cNvSpPr>
            <a:spLocks xmlns:a="http://schemas.openxmlformats.org/drawingml/2006/main" noGrp="1"/>
          </p:cNvSpPr>
          <p:nvPr/>
        </p:nvSpPr>
        <p:spPr>
          <a:xfrm xmlns:a="http://schemas.openxmlformats.org/drawingml/2006/main">
            <a:off x="4762500" y="1943100"/>
            <a:ext cx="0" cy="3429000"/>
          </a:xfrm>
          <a:prstGeom xmlns:a="http://schemas.openxmlformats.org/drawingml/2006/main" prst="line">
            <a:avLst/>
          </a:prstGeom>
          <a:noFill xmlns:a="http://schemas.openxmlformats.org/drawingml/2006/main"/>
          <a:ln xmlns:a="http://schemas.openxmlformats.org/drawingml/2006/main" w="19050">
            <a:solidFill>
              <a:srgbClr val="CBD5E1"/>
            </a:solidFill>
          </a:ln>
        </p:spPr>
      </p:sp>
      <p:sp>
        <p:nvSpPr>
          <p:cNvPr id="7" name="">
            <a:extLst xmlns:a="http://schemas.openxmlformats.org/drawingml/2006/main">
              <a:ext uri="{FF2B5EF4-FFF2-40B4-BE49-F238E27FC236}">
                <a16:creationId xmlns:a16="http://schemas.microsoft.com/office/drawing/2014/main" id="{BC559E25-B4B2-43C7-97C3-853BC8FC4AFA}"/>
              </a:ext>
            </a:extLst>
          </p:cNvPr>
          <p:cNvSpPr>
            <a:spLocks xmlns:a="http://schemas.openxmlformats.org/drawingml/2006/main" noGrp="1"/>
          </p:cNvSpPr>
          <p:nvPr/>
        </p:nvSpPr>
        <p:spPr>
          <a:xfrm xmlns:a="http://schemas.openxmlformats.org/drawingml/2006/main">
            <a:off x="5334000" y="19431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6A34A"/>
                </a:solidFill>
                <a:latin typeface="Helvetica Neue"/>
                <a:ea typeface="Helvetica Neue"/>
                <a:cs typeface="Helvetica Neue"/>
              </a:defRPr>
            </a:pPr>
            <a:r>
              <a:rPr sz="1650" b="1">
                <a:solidFill>
                  <a:srgbClr val="16A34A"/>
                </a:solidFill>
                <a:latin typeface="Helvetica Neue"/>
                <a:ea typeface="Helvetica Neue"/>
                <a:cs typeface="Helvetica Neue"/>
              </a:rPr>
              <a:t>Useful results</a:t>
            </a:r>
          </a:p>
        </p:txBody>
      </p:sp>
      <p:sp>
        <p:nvSpPr>
          <p:cNvPr id="8" name="">
            <a:extLst xmlns:a="http://schemas.openxmlformats.org/drawingml/2006/main">
              <a:ext uri="{FF2B5EF4-FFF2-40B4-BE49-F238E27FC236}">
                <a16:creationId xmlns:a16="http://schemas.microsoft.com/office/drawing/2014/main" id="{2BFC04C3-FB5B-42EE-910E-F26B927D9754}"/>
              </a:ext>
            </a:extLst>
          </p:cNvPr>
          <p:cNvSpPr>
            <a:spLocks xmlns:a="http://schemas.openxmlformats.org/drawingml/2006/main" noGrp="1"/>
          </p:cNvSpPr>
          <p:nvPr/>
        </p:nvSpPr>
        <p:spPr>
          <a:xfrm xmlns:a="http://schemas.openxmlformats.org/drawingml/2006/main">
            <a:off x="5334000" y="24765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Student report</a:t>
            </a:r>
          </a:p>
        </p:txBody>
      </p:sp>
      <p:sp>
        <p:nvSpPr>
          <p:cNvPr id="9" name="">
            <a:extLst xmlns:a="http://schemas.openxmlformats.org/drawingml/2006/main">
              <a:ext uri="{FF2B5EF4-FFF2-40B4-BE49-F238E27FC236}">
                <a16:creationId xmlns:a16="http://schemas.microsoft.com/office/drawing/2014/main" id="{D87EAA57-B399-411F-8B3A-4368771A10EF}"/>
              </a:ext>
            </a:extLst>
          </p:cNvPr>
          <p:cNvSpPr>
            <a:spLocks xmlns:a="http://schemas.openxmlformats.org/drawingml/2006/main" noGrp="1"/>
          </p:cNvSpPr>
          <p:nvPr/>
        </p:nvSpPr>
        <p:spPr>
          <a:xfrm xmlns:a="http://schemas.openxmlformats.org/drawingml/2006/main">
            <a:off x="5334000" y="28575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Review attendance status across the selected date range.</a:t>
            </a:r>
          </a:p>
        </p:txBody>
      </p:sp>
      <p:sp>
        <p:nvSpPr>
          <p:cNvPr id="10" name="">
            <a:extLst xmlns:a="http://schemas.openxmlformats.org/drawingml/2006/main">
              <a:ext uri="{FF2B5EF4-FFF2-40B4-BE49-F238E27FC236}">
                <a16:creationId xmlns:a16="http://schemas.microsoft.com/office/drawing/2014/main" id="{795E2C3D-EB4E-402D-B13A-6574563635FD}"/>
              </a:ext>
            </a:extLst>
          </p:cNvPr>
          <p:cNvSpPr>
            <a:spLocks xmlns:a="http://schemas.openxmlformats.org/drawingml/2006/main" noGrp="1"/>
          </p:cNvSpPr>
          <p:nvPr/>
        </p:nvSpPr>
        <p:spPr>
          <a:xfrm xmlns:a="http://schemas.openxmlformats.org/drawingml/2006/main">
            <a:off x="5334000" y="36385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Excel export</a:t>
            </a:r>
          </a:p>
        </p:txBody>
      </p:sp>
      <p:sp>
        <p:nvSpPr>
          <p:cNvPr id="11" name="">
            <a:extLst xmlns:a="http://schemas.openxmlformats.org/drawingml/2006/main">
              <a:ext uri="{FF2B5EF4-FFF2-40B4-BE49-F238E27FC236}">
                <a16:creationId xmlns:a16="http://schemas.microsoft.com/office/drawing/2014/main" id="{74AE32F7-2D85-425A-A203-61F43270455A}"/>
              </a:ext>
            </a:extLst>
          </p:cNvPr>
          <p:cNvSpPr>
            <a:spLocks xmlns:a="http://schemas.openxmlformats.org/drawingml/2006/main" noGrp="1"/>
          </p:cNvSpPr>
          <p:nvPr/>
        </p:nvSpPr>
        <p:spPr>
          <a:xfrm xmlns:a="http://schemas.openxmlformats.org/drawingml/2006/main">
            <a:off x="5334000" y="4019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Use the data for administration or further reporting.</a:t>
            </a:r>
          </a:p>
        </p:txBody>
      </p:sp>
      <p:sp>
        <p:nvSpPr>
          <p:cNvPr id="12" name="">
            <a:extLst xmlns:a="http://schemas.openxmlformats.org/drawingml/2006/main">
              <a:ext uri="{FF2B5EF4-FFF2-40B4-BE49-F238E27FC236}">
                <a16:creationId xmlns:a16="http://schemas.microsoft.com/office/drawing/2014/main" id="{17D00B7A-82A7-4918-A87E-94E620C7ACF4}"/>
              </a:ext>
            </a:extLst>
          </p:cNvPr>
          <p:cNvSpPr>
            <a:spLocks xmlns:a="http://schemas.openxmlformats.org/drawingml/2006/main" noGrp="1"/>
          </p:cNvSpPr>
          <p:nvPr/>
        </p:nvSpPr>
        <p:spPr>
          <a:xfrm xmlns:a="http://schemas.openxmlformats.org/drawingml/2006/main">
            <a:off x="5334000" y="48006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F172A"/>
                </a:solidFill>
                <a:latin typeface="Helvetica Neue"/>
                <a:ea typeface="Helvetica Neue"/>
                <a:cs typeface="Helvetica Neue"/>
              </a:defRPr>
            </a:pPr>
            <a:r>
              <a:rPr sz="1725" b="1">
                <a:solidFill>
                  <a:srgbClr val="0F172A"/>
                </a:solidFill>
                <a:latin typeface="Helvetica Neue"/>
                <a:ea typeface="Helvetica Neue"/>
                <a:cs typeface="Helvetica Neue"/>
              </a:rPr>
              <a:t>Class Summary</a:t>
            </a:r>
          </a:p>
        </p:txBody>
      </p:sp>
      <p:sp>
        <p:nvSpPr>
          <p:cNvPr id="13" name="">
            <a:extLst xmlns:a="http://schemas.openxmlformats.org/drawingml/2006/main">
              <a:ext uri="{FF2B5EF4-FFF2-40B4-BE49-F238E27FC236}">
                <a16:creationId xmlns:a16="http://schemas.microsoft.com/office/drawing/2014/main" id="{B56B4846-4860-49FA-92BE-F53613A9CD9E}"/>
              </a:ext>
            </a:extLst>
          </p:cNvPr>
          <p:cNvSpPr>
            <a:spLocks xmlns:a="http://schemas.openxmlformats.org/drawingml/2006/main" noGrp="1"/>
          </p:cNvSpPr>
          <p:nvPr/>
        </p:nvSpPr>
        <p:spPr>
          <a:xfrm xmlns:a="http://schemas.openxmlformats.org/drawingml/2006/main">
            <a:off x="5334000" y="518160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Review class attendance in a separate summary view.</a:t>
            </a:r>
          </a:p>
        </p:txBody>
      </p:sp>
      <p:sp>
        <p:nvSpPr>
          <p:cNvPr id="14" name="">
            <a:extLst xmlns:a="http://schemas.openxmlformats.org/drawingml/2006/main">
              <a:ext uri="{FF2B5EF4-FFF2-40B4-BE49-F238E27FC236}">
                <a16:creationId xmlns:a16="http://schemas.microsoft.com/office/drawing/2014/main" id="{7968D147-98DA-4819-B6B5-03B2915EF4B1}"/>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5" name="">
            <a:extLst xmlns:a="http://schemas.openxmlformats.org/drawingml/2006/main">
              <a:ext uri="{FF2B5EF4-FFF2-40B4-BE49-F238E27FC236}">
                <a16:creationId xmlns:a16="http://schemas.microsoft.com/office/drawing/2014/main" id="{2AF76112-63CB-401A-B9C9-3548F747FDEF}"/>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11</a:t>
            </a:r>
          </a:p>
        </p:txBody>
      </p:sp>
    </p:spTree>
    <p:extLst>
      <p:ext uri="{BB962C8B-B14F-4D97-AF65-F5344CB8AC3E}">
        <p14:creationId xmlns:p14="http://schemas.microsoft.com/office/powerpoint/2010/main" val="999223820"/>
      </p:ext>
    </p:extLst>
  </p:cSld>
</p:sld>
</file>

<file path=ppt/slides/slide12.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B104567-8B09-492B-ABC8-C11B50C25BF0}"/>
              </a:ext>
            </a:extLst>
          </p:cNvPr>
          <p:cNvSpPr>
            <a:spLocks xmlns:a="http://schemas.openxmlformats.org/drawingml/2006/main" noGrp="1"/>
          </p:cNvSpPr>
          <p:nvPr/>
        </p:nvSpPr>
        <p:spPr>
          <a:xfrm xmlns:a="http://schemas.openxmlformats.org/drawingml/2006/main">
            <a:off x="723900" y="51435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000" b="1">
                <a:solidFill>
                  <a:srgbClr val="FFFFFF"/>
                </a:solidFill>
                <a:latin typeface="Helvetica Neue"/>
                <a:ea typeface="Helvetica Neue"/>
                <a:cs typeface="Helvetica Neue"/>
              </a:defRPr>
            </a:pPr>
            <a:r>
              <a:rPr sz="3000" b="1">
                <a:solidFill>
                  <a:srgbClr val="FFFFFF"/>
                </a:solidFill>
                <a:latin typeface="Helvetica Neue"/>
                <a:ea typeface="Helvetica Neue"/>
                <a:cs typeface="Helvetica Neue"/>
              </a:rPr>
              <a:t>Short demonstration</a:t>
            </a:r>
          </a:p>
        </p:txBody>
      </p:sp>
      <p:sp>
        <p:nvSpPr>
          <p:cNvPr id="2" name="">
            <a:extLst xmlns:a="http://schemas.openxmlformats.org/drawingml/2006/main">
              <a:ext uri="{FF2B5EF4-FFF2-40B4-BE49-F238E27FC236}">
                <a16:creationId xmlns:a16="http://schemas.microsoft.com/office/drawing/2014/main" id="{066CAAC0-31D1-4586-911C-26B581E525AF}"/>
              </a:ext>
            </a:extLst>
          </p:cNvPr>
          <p:cNvSpPr>
            <a:spLocks xmlns:a="http://schemas.openxmlformats.org/drawingml/2006/main" noGrp="1"/>
          </p:cNvSpPr>
          <p:nvPr/>
        </p:nvSpPr>
        <p:spPr>
          <a:xfrm xmlns:a="http://schemas.openxmlformats.org/drawingml/2006/main">
            <a:off x="742950" y="116205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A5B4FC"/>
                </a:solidFill>
                <a:latin typeface="Helvetica Neue"/>
                <a:ea typeface="Helvetica Neue"/>
                <a:cs typeface="Helvetica Neue"/>
              </a:defRPr>
            </a:pPr>
            <a:r>
              <a:rPr sz="1575" b="0">
                <a:solidFill>
                  <a:srgbClr val="A5B4FC"/>
                </a:solidFill>
                <a:latin typeface="Helvetica Neue"/>
                <a:ea typeface="Helvetica Neue"/>
                <a:cs typeface="Helvetica Neue"/>
              </a:rPr>
              <a:t>One class, one date, one report</a:t>
            </a:r>
          </a:p>
        </p:txBody>
      </p:sp>
      <p:sp>
        <p:nvSpPr>
          <p:cNvPr id="3" name="">
            <a:extLst xmlns:a="http://schemas.openxmlformats.org/drawingml/2006/main">
              <a:ext uri="{FF2B5EF4-FFF2-40B4-BE49-F238E27FC236}">
                <a16:creationId xmlns:a16="http://schemas.microsoft.com/office/drawing/2014/main" id="{8146F9FA-9D00-4BA2-85F5-AAF8D9AD7BAE}"/>
              </a:ext>
            </a:extLst>
          </p:cNvPr>
          <p:cNvSpPr>
            <a:spLocks xmlns:a="http://schemas.openxmlformats.org/drawingml/2006/main" noGrp="1"/>
          </p:cNvSpPr>
          <p:nvPr/>
        </p:nvSpPr>
        <p:spPr>
          <a:xfrm xmlns:a="http://schemas.openxmlformats.org/drawingml/2006/main">
            <a:off x="800100" y="20002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A5B4FC"/>
                </a:solidFill>
                <a:latin typeface="Helvetica Neue"/>
                <a:ea typeface="Helvetica Neue"/>
                <a:cs typeface="Helvetica Neue"/>
              </a:defRPr>
            </a:pPr>
            <a:r>
              <a:rPr sz="2250" b="1">
                <a:solidFill>
                  <a:srgbClr val="A5B4FC"/>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E0762B1B-1601-4B8F-B6F4-57F02BAD4624}"/>
              </a:ext>
            </a:extLst>
          </p:cNvPr>
          <p:cNvSpPr>
            <a:spLocks xmlns:a="http://schemas.openxmlformats.org/drawingml/2006/main" noGrp="1"/>
          </p:cNvSpPr>
          <p:nvPr/>
        </p:nvSpPr>
        <p:spPr>
          <a:xfrm xmlns:a="http://schemas.openxmlformats.org/drawingml/2006/main">
            <a:off x="1752600" y="20002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Sign in as a teacher</a:t>
            </a:r>
          </a:p>
        </p:txBody>
      </p:sp>
      <p:sp>
        <p:nvSpPr>
          <p:cNvPr id="5" name="">
            <a:extLst xmlns:a="http://schemas.openxmlformats.org/drawingml/2006/main">
              <a:ext uri="{FF2B5EF4-FFF2-40B4-BE49-F238E27FC236}">
                <a16:creationId xmlns:a16="http://schemas.microsoft.com/office/drawing/2014/main" id="{472B0DD7-38C5-4C67-BC01-3831E6B822FC}"/>
              </a:ext>
            </a:extLst>
          </p:cNvPr>
          <p:cNvSpPr>
            <a:spLocks xmlns:a="http://schemas.openxmlformats.org/drawingml/2006/main" noGrp="1"/>
          </p:cNvSpPr>
          <p:nvPr/>
        </p:nvSpPr>
        <p:spPr>
          <a:xfrm xmlns:a="http://schemas.openxmlformats.org/drawingml/2006/main">
            <a:off x="5905500" y="2019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Show the profile and main menu</a:t>
            </a:r>
          </a:p>
        </p:txBody>
      </p:sp>
      <p:sp>
        <p:nvSpPr>
          <p:cNvPr id="6" name="">
            <a:extLst xmlns:a="http://schemas.openxmlformats.org/drawingml/2006/main">
              <a:ext uri="{FF2B5EF4-FFF2-40B4-BE49-F238E27FC236}">
                <a16:creationId xmlns:a16="http://schemas.microsoft.com/office/drawing/2014/main" id="{DA923708-68D8-4824-BA4E-48017B45F26C}"/>
              </a:ext>
            </a:extLst>
          </p:cNvPr>
          <p:cNvSpPr>
            <a:spLocks xmlns:a="http://schemas.openxmlformats.org/drawingml/2006/main" noGrp="1"/>
          </p:cNvSpPr>
          <p:nvPr/>
        </p:nvSpPr>
        <p:spPr>
          <a:xfrm xmlns:a="http://schemas.openxmlformats.org/drawingml/2006/main">
            <a:off x="800100" y="2628900"/>
            <a:ext cx="9906000" cy="0"/>
          </a:xfrm>
          <a:prstGeom xmlns:a="http://schemas.openxmlformats.org/drawingml/2006/main" prst="line">
            <a:avLst/>
          </a:prstGeom>
          <a:noFill xmlns:a="http://schemas.openxmlformats.org/drawingml/2006/main"/>
          <a:ln xmlns:a="http://schemas.openxmlformats.org/drawingml/2006/main" w="9525">
            <a:solidFill>
              <a:srgbClr val="334155"/>
            </a:solidFill>
          </a:ln>
        </p:spPr>
      </p:sp>
      <p:sp>
        <p:nvSpPr>
          <p:cNvPr id="7" name="">
            <a:extLst xmlns:a="http://schemas.openxmlformats.org/drawingml/2006/main">
              <a:ext uri="{FF2B5EF4-FFF2-40B4-BE49-F238E27FC236}">
                <a16:creationId xmlns:a16="http://schemas.microsoft.com/office/drawing/2014/main" id="{08A5D596-EE55-40C9-A270-B1F9B8CBEF1B}"/>
              </a:ext>
            </a:extLst>
          </p:cNvPr>
          <p:cNvSpPr>
            <a:spLocks xmlns:a="http://schemas.openxmlformats.org/drawingml/2006/main" noGrp="1"/>
          </p:cNvSpPr>
          <p:nvPr/>
        </p:nvSpPr>
        <p:spPr>
          <a:xfrm xmlns:a="http://schemas.openxmlformats.org/drawingml/2006/main">
            <a:off x="800100" y="29527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A5B4FC"/>
                </a:solidFill>
                <a:latin typeface="Helvetica Neue"/>
                <a:ea typeface="Helvetica Neue"/>
                <a:cs typeface="Helvetica Neue"/>
              </a:defRPr>
            </a:pPr>
            <a:r>
              <a:rPr sz="2250" b="1">
                <a:solidFill>
                  <a:srgbClr val="A5B4FC"/>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7D5EF625-D61B-41ED-B2AC-BF4DF3CB3628}"/>
              </a:ext>
            </a:extLst>
          </p:cNvPr>
          <p:cNvSpPr>
            <a:spLocks xmlns:a="http://schemas.openxmlformats.org/drawingml/2006/main" noGrp="1"/>
          </p:cNvSpPr>
          <p:nvPr/>
        </p:nvSpPr>
        <p:spPr>
          <a:xfrm xmlns:a="http://schemas.openxmlformats.org/drawingml/2006/main">
            <a:off x="1752600" y="29527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Open Initial Data</a:t>
            </a:r>
          </a:p>
        </p:txBody>
      </p:sp>
      <p:sp>
        <p:nvSpPr>
          <p:cNvPr id="9" name="">
            <a:extLst xmlns:a="http://schemas.openxmlformats.org/drawingml/2006/main">
              <a:ext uri="{FF2B5EF4-FFF2-40B4-BE49-F238E27FC236}">
                <a16:creationId xmlns:a16="http://schemas.microsoft.com/office/drawing/2014/main" id="{4BA7A9C9-31B5-4BBA-9473-86A3EA9290FF}"/>
              </a:ext>
            </a:extLst>
          </p:cNvPr>
          <p:cNvSpPr>
            <a:spLocks xmlns:a="http://schemas.openxmlformats.org/drawingml/2006/main" noGrp="1"/>
          </p:cNvSpPr>
          <p:nvPr/>
        </p:nvSpPr>
        <p:spPr>
          <a:xfrm xmlns:a="http://schemas.openxmlformats.org/drawingml/2006/main">
            <a:off x="5905500" y="29718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Show students and class assignments</a:t>
            </a:r>
          </a:p>
        </p:txBody>
      </p:sp>
      <p:sp>
        <p:nvSpPr>
          <p:cNvPr id="10" name="">
            <a:extLst xmlns:a="http://schemas.openxmlformats.org/drawingml/2006/main">
              <a:ext uri="{FF2B5EF4-FFF2-40B4-BE49-F238E27FC236}">
                <a16:creationId xmlns:a16="http://schemas.microsoft.com/office/drawing/2014/main" id="{A91CFDB8-D6A1-4D16-9360-A4ADA45DAE31}"/>
              </a:ext>
            </a:extLst>
          </p:cNvPr>
          <p:cNvSpPr>
            <a:spLocks xmlns:a="http://schemas.openxmlformats.org/drawingml/2006/main" noGrp="1"/>
          </p:cNvSpPr>
          <p:nvPr/>
        </p:nvSpPr>
        <p:spPr>
          <a:xfrm xmlns:a="http://schemas.openxmlformats.org/drawingml/2006/main">
            <a:off x="800100" y="3581400"/>
            <a:ext cx="9906000" cy="0"/>
          </a:xfrm>
          <a:prstGeom xmlns:a="http://schemas.openxmlformats.org/drawingml/2006/main" prst="line">
            <a:avLst/>
          </a:prstGeom>
          <a:noFill xmlns:a="http://schemas.openxmlformats.org/drawingml/2006/main"/>
          <a:ln xmlns:a="http://schemas.openxmlformats.org/drawingml/2006/main" w="9525">
            <a:solidFill>
              <a:srgbClr val="334155"/>
            </a:solidFill>
          </a:ln>
        </p:spPr>
      </p:sp>
      <p:sp>
        <p:nvSpPr>
          <p:cNvPr id="11" name="">
            <a:extLst xmlns:a="http://schemas.openxmlformats.org/drawingml/2006/main">
              <a:ext uri="{FF2B5EF4-FFF2-40B4-BE49-F238E27FC236}">
                <a16:creationId xmlns:a16="http://schemas.microsoft.com/office/drawing/2014/main" id="{01F19EF9-819A-4AD2-BDB2-FB65467A103A}"/>
              </a:ext>
            </a:extLst>
          </p:cNvPr>
          <p:cNvSpPr>
            <a:spLocks xmlns:a="http://schemas.openxmlformats.org/drawingml/2006/main" noGrp="1"/>
          </p:cNvSpPr>
          <p:nvPr/>
        </p:nvSpPr>
        <p:spPr>
          <a:xfrm xmlns:a="http://schemas.openxmlformats.org/drawingml/2006/main">
            <a:off x="800100" y="39052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A5B4FC"/>
                </a:solidFill>
                <a:latin typeface="Helvetica Neue"/>
                <a:ea typeface="Helvetica Neue"/>
                <a:cs typeface="Helvetica Neue"/>
              </a:defRPr>
            </a:pPr>
            <a:r>
              <a:rPr sz="2250" b="1">
                <a:solidFill>
                  <a:srgbClr val="A5B4FC"/>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DFDDA667-B1FB-4708-900C-584CA38A50A2}"/>
              </a:ext>
            </a:extLst>
          </p:cNvPr>
          <p:cNvSpPr>
            <a:spLocks xmlns:a="http://schemas.openxmlformats.org/drawingml/2006/main" noGrp="1"/>
          </p:cNvSpPr>
          <p:nvPr/>
        </p:nvSpPr>
        <p:spPr>
          <a:xfrm xmlns:a="http://schemas.openxmlformats.org/drawingml/2006/main">
            <a:off x="1752600" y="39052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Enter attendance</a:t>
            </a:r>
          </a:p>
        </p:txBody>
      </p:sp>
      <p:sp>
        <p:nvSpPr>
          <p:cNvPr id="13" name="">
            <a:extLst xmlns:a="http://schemas.openxmlformats.org/drawingml/2006/main">
              <a:ext uri="{FF2B5EF4-FFF2-40B4-BE49-F238E27FC236}">
                <a16:creationId xmlns:a16="http://schemas.microsoft.com/office/drawing/2014/main" id="{5AC6094C-FEC7-48D8-8F7C-77C7120DD4BC}"/>
              </a:ext>
            </a:extLst>
          </p:cNvPr>
          <p:cNvSpPr>
            <a:spLocks xmlns:a="http://schemas.openxmlformats.org/drawingml/2006/main" noGrp="1"/>
          </p:cNvSpPr>
          <p:nvPr/>
        </p:nvSpPr>
        <p:spPr>
          <a:xfrm xmlns:a="http://schemas.openxmlformats.org/drawingml/2006/main">
            <a:off x="5905500" y="3924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Select a class and date, then save</a:t>
            </a:r>
          </a:p>
        </p:txBody>
      </p:sp>
      <p:sp>
        <p:nvSpPr>
          <p:cNvPr id="14" name="">
            <a:extLst xmlns:a="http://schemas.openxmlformats.org/drawingml/2006/main">
              <a:ext uri="{FF2B5EF4-FFF2-40B4-BE49-F238E27FC236}">
                <a16:creationId xmlns:a16="http://schemas.microsoft.com/office/drawing/2014/main" id="{8F53D95E-D155-4510-AB57-32174DF290CF}"/>
              </a:ext>
            </a:extLst>
          </p:cNvPr>
          <p:cNvSpPr>
            <a:spLocks xmlns:a="http://schemas.openxmlformats.org/drawingml/2006/main" noGrp="1"/>
          </p:cNvSpPr>
          <p:nvPr/>
        </p:nvSpPr>
        <p:spPr>
          <a:xfrm xmlns:a="http://schemas.openxmlformats.org/drawingml/2006/main">
            <a:off x="800100" y="4533900"/>
            <a:ext cx="9906000" cy="0"/>
          </a:xfrm>
          <a:prstGeom xmlns:a="http://schemas.openxmlformats.org/drawingml/2006/main" prst="line">
            <a:avLst/>
          </a:prstGeom>
          <a:noFill xmlns:a="http://schemas.openxmlformats.org/drawingml/2006/main"/>
          <a:ln xmlns:a="http://schemas.openxmlformats.org/drawingml/2006/main" w="9525">
            <a:solidFill>
              <a:srgbClr val="334155"/>
            </a:solidFill>
          </a:ln>
        </p:spPr>
      </p:sp>
      <p:sp>
        <p:nvSpPr>
          <p:cNvPr id="15" name="">
            <a:extLst xmlns:a="http://schemas.openxmlformats.org/drawingml/2006/main">
              <a:ext uri="{FF2B5EF4-FFF2-40B4-BE49-F238E27FC236}">
                <a16:creationId xmlns:a16="http://schemas.microsoft.com/office/drawing/2014/main" id="{C60C6F7F-DB87-4B56-B3A2-E1458AB07EEE}"/>
              </a:ext>
            </a:extLst>
          </p:cNvPr>
          <p:cNvSpPr>
            <a:spLocks xmlns:a="http://schemas.openxmlformats.org/drawingml/2006/main" noGrp="1"/>
          </p:cNvSpPr>
          <p:nvPr/>
        </p:nvSpPr>
        <p:spPr>
          <a:xfrm xmlns:a="http://schemas.openxmlformats.org/drawingml/2006/main">
            <a:off x="800100" y="4857750"/>
            <a:ext cx="781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50" b="1">
                <a:solidFill>
                  <a:srgbClr val="86EFAC"/>
                </a:solidFill>
                <a:latin typeface="Helvetica Neue"/>
                <a:ea typeface="Helvetica Neue"/>
                <a:cs typeface="Helvetica Neue"/>
              </a:defRPr>
            </a:pPr>
            <a:r>
              <a:rPr sz="2250" b="1">
                <a:solidFill>
                  <a:srgbClr val="86EFAC"/>
                </a:solidFill>
                <a:latin typeface="Helvetica Neue"/>
                <a:ea typeface="Helvetica Neue"/>
                <a:cs typeface="Helvetica Neue"/>
              </a:rPr>
              <a:t>04</a:t>
            </a:r>
          </a:p>
        </p:txBody>
      </p:sp>
      <p:sp>
        <p:nvSpPr>
          <p:cNvPr id="16" name="">
            <a:extLst xmlns:a="http://schemas.openxmlformats.org/drawingml/2006/main">
              <a:ext uri="{FF2B5EF4-FFF2-40B4-BE49-F238E27FC236}">
                <a16:creationId xmlns:a16="http://schemas.microsoft.com/office/drawing/2014/main" id="{4854A5C6-33BD-40E9-B8C7-443B472969E6}"/>
              </a:ext>
            </a:extLst>
          </p:cNvPr>
          <p:cNvSpPr>
            <a:spLocks xmlns:a="http://schemas.openxmlformats.org/drawingml/2006/main" noGrp="1"/>
          </p:cNvSpPr>
          <p:nvPr/>
        </p:nvSpPr>
        <p:spPr>
          <a:xfrm xmlns:a="http://schemas.openxmlformats.org/drawingml/2006/main">
            <a:off x="1752600" y="4857750"/>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Open Reports</a:t>
            </a:r>
          </a:p>
        </p:txBody>
      </p:sp>
      <p:sp>
        <p:nvSpPr>
          <p:cNvPr id="17" name="">
            <a:extLst xmlns:a="http://schemas.openxmlformats.org/drawingml/2006/main">
              <a:ext uri="{FF2B5EF4-FFF2-40B4-BE49-F238E27FC236}">
                <a16:creationId xmlns:a16="http://schemas.microsoft.com/office/drawing/2014/main" id="{4C85BCCA-17E2-4EAB-9115-7237ABCE0C6F}"/>
              </a:ext>
            </a:extLst>
          </p:cNvPr>
          <p:cNvSpPr>
            <a:spLocks xmlns:a="http://schemas.openxmlformats.org/drawingml/2006/main" noGrp="1"/>
          </p:cNvSpPr>
          <p:nvPr/>
        </p:nvSpPr>
        <p:spPr>
          <a:xfrm xmlns:a="http://schemas.openxmlformats.org/drawingml/2006/main">
            <a:off x="5905500" y="48768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CBD5E1"/>
                </a:solidFill>
                <a:latin typeface="Helvetica Neue"/>
                <a:ea typeface="Helvetica Neue"/>
                <a:cs typeface="Helvetica Neue"/>
              </a:defRPr>
            </a:pPr>
            <a:r>
              <a:rPr sz="1350" b="0">
                <a:solidFill>
                  <a:srgbClr val="CBD5E1"/>
                </a:solidFill>
                <a:latin typeface="Helvetica Neue"/>
                <a:ea typeface="Helvetica Neue"/>
                <a:cs typeface="Helvetica Neue"/>
              </a:rPr>
              <a:t>Filter the period and download results</a:t>
            </a:r>
          </a:p>
        </p:txBody>
      </p:sp>
      <p:sp>
        <p:nvSpPr>
          <p:cNvPr id="18" name="">
            <a:extLst xmlns:a="http://schemas.openxmlformats.org/drawingml/2006/main">
              <a:ext uri="{FF2B5EF4-FFF2-40B4-BE49-F238E27FC236}">
                <a16:creationId xmlns:a16="http://schemas.microsoft.com/office/drawing/2014/main" id="{DE3B0587-583D-4FA4-90A1-CF5A7640D39E}"/>
              </a:ext>
            </a:extLst>
          </p:cNvPr>
          <p:cNvSpPr>
            <a:spLocks xmlns:a="http://schemas.openxmlformats.org/drawingml/2006/main" noGrp="1"/>
          </p:cNvSpPr>
          <p:nvPr/>
        </p:nvSpPr>
        <p:spPr>
          <a:xfrm xmlns:a="http://schemas.openxmlformats.org/drawingml/2006/main">
            <a:off x="800100" y="594360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FDE68A"/>
                </a:solidFill>
                <a:latin typeface="Helvetica Neue"/>
                <a:ea typeface="Helvetica Neue"/>
                <a:cs typeface="Helvetica Neue"/>
              </a:defRPr>
            </a:pPr>
            <a:r>
              <a:rPr sz="1350" b="1">
                <a:solidFill>
                  <a:srgbClr val="FDE68A"/>
                </a:solidFill>
                <a:latin typeface="Helvetica Neue"/>
                <a:ea typeface="Helvetica Neue"/>
                <a:cs typeface="Helvetica Neue"/>
              </a:rPr>
              <a:t>Use sample records. Avoid changing school data that is currently in use.</a:t>
            </a:r>
          </a:p>
        </p:txBody>
      </p:sp>
      <p:sp>
        <p:nvSpPr>
          <p:cNvPr id="19" name="">
            <a:extLst xmlns:a="http://schemas.openxmlformats.org/drawingml/2006/main">
              <a:ext uri="{FF2B5EF4-FFF2-40B4-BE49-F238E27FC236}">
                <a16:creationId xmlns:a16="http://schemas.microsoft.com/office/drawing/2014/main" id="{EB98C952-D213-469A-ABAF-9520C8E3FD16}"/>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94A3B8"/>
                </a:solidFill>
                <a:latin typeface="Helvetica Neue"/>
                <a:ea typeface="Helvetica Neue"/>
                <a:cs typeface="Helvetica Neue"/>
              </a:defRPr>
            </a:pPr>
            <a:r>
              <a:rPr sz="900" b="1">
                <a:solidFill>
                  <a:srgbClr val="94A3B8"/>
                </a:solidFill>
                <a:latin typeface="Helvetica Neue"/>
                <a:ea typeface="Helvetica Neue"/>
                <a:cs typeface="Helvetica Neue"/>
              </a:rPr>
              <a:t>12</a:t>
            </a:r>
          </a:p>
        </p:txBody>
      </p:sp>
    </p:spTree>
    <p:extLst>
      <p:ext uri="{BB962C8B-B14F-4D97-AF65-F5344CB8AC3E}">
        <p14:creationId xmlns:p14="http://schemas.microsoft.com/office/powerpoint/2010/main" val="19046326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0304DF5-7BB2-4B5F-801C-2A8BFCB3907F}"/>
              </a:ext>
            </a:extLst>
          </p:cNvPr>
          <p:cNvSpPr>
            <a:spLocks xmlns:a="http://schemas.openxmlformats.org/drawingml/2006/main" noGrp="1"/>
          </p:cNvSpPr>
          <p:nvPr/>
        </p:nvSpPr>
        <p:spPr>
          <a:xfrm xmlns:a="http://schemas.openxmlformats.org/drawingml/2006/main">
            <a:off x="685800" y="4000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a:solidFill>
                  <a:srgbClr val="5755D9"/>
                </a:solidFill>
                <a:latin typeface="Helvetica Neue"/>
                <a:ea typeface="Helvetica Neue"/>
                <a:cs typeface="Helvetica Neue"/>
              </a:defRPr>
            </a:pPr>
            <a:r>
              <a:rPr sz="1125" b="1">
                <a:solidFill>
                  <a:srgbClr val="5755D9"/>
                </a:solidFill>
                <a:latin typeface="Helvetica Neue"/>
                <a:ea typeface="Helvetica Neue"/>
                <a:cs typeface="Helvetica Neue"/>
              </a:rPr>
              <a:t>NEXT STEPS</a:t>
            </a:r>
          </a:p>
        </p:txBody>
      </p:sp>
      <p:sp>
        <p:nvSpPr>
          <p:cNvPr id="2" name="">
            <a:extLst xmlns:a="http://schemas.openxmlformats.org/drawingml/2006/main">
              <a:ext uri="{FF2B5EF4-FFF2-40B4-BE49-F238E27FC236}">
                <a16:creationId xmlns:a16="http://schemas.microsoft.com/office/drawing/2014/main" id="{B50F0021-C353-4E2A-B69D-48EB93469D26}"/>
              </a:ext>
            </a:extLst>
          </p:cNvPr>
          <p:cNvSpPr>
            <a:spLocks xmlns:a="http://schemas.openxmlformats.org/drawingml/2006/main" noGrp="1"/>
          </p:cNvSpPr>
          <p:nvPr/>
        </p:nvSpPr>
        <p:spPr>
          <a:xfrm xmlns:a="http://schemas.openxmlformats.org/drawingml/2006/main">
            <a:off x="685800" y="704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0F172A"/>
                </a:solidFill>
                <a:latin typeface="Helvetica Neue"/>
                <a:ea typeface="Helvetica Neue"/>
                <a:cs typeface="Helvetica Neue"/>
              </a:defRPr>
            </a:pPr>
            <a:r>
              <a:rPr sz="2700" b="1">
                <a:solidFill>
                  <a:srgbClr val="0F172A"/>
                </a:solidFill>
                <a:latin typeface="Helvetica Neue"/>
                <a:ea typeface="Helvetica Neue"/>
                <a:cs typeface="Helvetica Neue"/>
              </a:rPr>
              <a:t>Start with one class for one week</a:t>
            </a:r>
          </a:p>
        </p:txBody>
      </p:sp>
      <p:sp>
        <p:nvSpPr>
          <p:cNvPr id="3" name="">
            <a:extLst xmlns:a="http://schemas.openxmlformats.org/drawingml/2006/main">
              <a:ext uri="{FF2B5EF4-FFF2-40B4-BE49-F238E27FC236}">
                <a16:creationId xmlns:a16="http://schemas.microsoft.com/office/drawing/2014/main" id="{C5BA0BC1-216F-4459-B86B-600CAC2BEF8A}"/>
              </a:ext>
            </a:extLst>
          </p:cNvPr>
          <p:cNvSpPr>
            <a:spLocks xmlns:a="http://schemas.openxmlformats.org/drawingml/2006/main" noGrp="1"/>
          </p:cNvSpPr>
          <p:nvPr/>
        </p:nvSpPr>
        <p:spPr>
          <a:xfrm xmlns:a="http://schemas.openxmlformats.org/drawingml/2006/main">
            <a:off x="685800" y="1409700"/>
            <a:ext cx="108204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4" name="">
            <a:extLst xmlns:a="http://schemas.openxmlformats.org/drawingml/2006/main">
              <a:ext uri="{FF2B5EF4-FFF2-40B4-BE49-F238E27FC236}">
                <a16:creationId xmlns:a16="http://schemas.microsoft.com/office/drawing/2014/main" id="{E527969D-A83B-4B40-80B7-7224388B8E75}"/>
              </a:ext>
            </a:extLst>
          </p:cNvPr>
          <p:cNvSpPr>
            <a:spLocks xmlns:a="http://schemas.openxmlformats.org/drawingml/2006/main" noGrp="1"/>
          </p:cNvSpPr>
          <p:nvPr/>
        </p:nvSpPr>
        <p:spPr>
          <a:xfrm xmlns:a="http://schemas.openxmlformats.org/drawingml/2006/main">
            <a:off x="838200" y="19812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5755D9"/>
                </a:solidFill>
                <a:latin typeface="Helvetica Neue"/>
                <a:ea typeface="Helvetica Neue"/>
                <a:cs typeface="Helvetica Neue"/>
              </a:defRPr>
            </a:pPr>
            <a:r>
              <a:rPr sz="2850" b="1">
                <a:solidFill>
                  <a:srgbClr val="5755D9"/>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2DB827F8-D98F-48E7-8667-972C696CA075}"/>
              </a:ext>
            </a:extLst>
          </p:cNvPr>
          <p:cNvSpPr>
            <a:spLocks xmlns:a="http://schemas.openxmlformats.org/drawingml/2006/main" noGrp="1"/>
          </p:cNvSpPr>
          <p:nvPr/>
        </p:nvSpPr>
        <p:spPr>
          <a:xfrm xmlns:a="http://schemas.openxmlformats.org/drawingml/2006/main">
            <a:off x="1562100" y="20002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Confirm the Initial Data</a:t>
            </a:r>
          </a:p>
        </p:txBody>
      </p:sp>
      <p:sp>
        <p:nvSpPr>
          <p:cNvPr id="6" name="">
            <a:extLst xmlns:a="http://schemas.openxmlformats.org/drawingml/2006/main">
              <a:ext uri="{FF2B5EF4-FFF2-40B4-BE49-F238E27FC236}">
                <a16:creationId xmlns:a16="http://schemas.microsoft.com/office/drawing/2014/main" id="{4DFC48CC-8231-459C-9C1F-4B672CF792D7}"/>
              </a:ext>
            </a:extLst>
          </p:cNvPr>
          <p:cNvSpPr>
            <a:spLocks xmlns:a="http://schemas.openxmlformats.org/drawingml/2006/main" noGrp="1"/>
          </p:cNvSpPr>
          <p:nvPr/>
        </p:nvSpPr>
        <p:spPr>
          <a:xfrm xmlns:a="http://schemas.openxmlformats.org/drawingml/2006/main">
            <a:off x="1562100" y="241935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Review the academic year, attendance types, and student list.</a:t>
            </a:r>
          </a:p>
        </p:txBody>
      </p:sp>
      <p:sp>
        <p:nvSpPr>
          <p:cNvPr id="7" name="">
            <a:extLst xmlns:a="http://schemas.openxmlformats.org/drawingml/2006/main">
              <a:ext uri="{FF2B5EF4-FFF2-40B4-BE49-F238E27FC236}">
                <a16:creationId xmlns:a16="http://schemas.microsoft.com/office/drawing/2014/main" id="{F7AC84E5-6651-4E39-A334-115A8AF3B0CB}"/>
              </a:ext>
            </a:extLst>
          </p:cNvPr>
          <p:cNvSpPr>
            <a:spLocks xmlns:a="http://schemas.openxmlformats.org/drawingml/2006/main" noGrp="1"/>
          </p:cNvSpPr>
          <p:nvPr/>
        </p:nvSpPr>
        <p:spPr>
          <a:xfrm xmlns:a="http://schemas.openxmlformats.org/drawingml/2006/main">
            <a:off x="838200" y="302895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8" name="">
            <a:extLst xmlns:a="http://schemas.openxmlformats.org/drawingml/2006/main">
              <a:ext uri="{FF2B5EF4-FFF2-40B4-BE49-F238E27FC236}">
                <a16:creationId xmlns:a16="http://schemas.microsoft.com/office/drawing/2014/main" id="{9EC1D07D-0910-413E-84CF-65A08B537878}"/>
              </a:ext>
            </a:extLst>
          </p:cNvPr>
          <p:cNvSpPr>
            <a:spLocks xmlns:a="http://schemas.openxmlformats.org/drawingml/2006/main" noGrp="1"/>
          </p:cNvSpPr>
          <p:nvPr/>
        </p:nvSpPr>
        <p:spPr>
          <a:xfrm xmlns:a="http://schemas.openxmlformats.org/drawingml/2006/main">
            <a:off x="838200" y="33718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2563EB"/>
                </a:solidFill>
                <a:latin typeface="Helvetica Neue"/>
                <a:ea typeface="Helvetica Neue"/>
                <a:cs typeface="Helvetica Neue"/>
              </a:defRPr>
            </a:pPr>
            <a:r>
              <a:rPr sz="2850" b="1">
                <a:solidFill>
                  <a:srgbClr val="2563EB"/>
                </a:solidFill>
                <a:latin typeface="Helvetica Neue"/>
                <a:ea typeface="Helvetica Neue"/>
                <a:cs typeface="Helvetica Neue"/>
              </a:rPr>
              <a:t>2</a:t>
            </a:r>
          </a:p>
        </p:txBody>
      </p:sp>
      <p:sp>
        <p:nvSpPr>
          <p:cNvPr id="9" name="">
            <a:extLst xmlns:a="http://schemas.openxmlformats.org/drawingml/2006/main">
              <a:ext uri="{FF2B5EF4-FFF2-40B4-BE49-F238E27FC236}">
                <a16:creationId xmlns:a16="http://schemas.microsoft.com/office/drawing/2014/main" id="{0739B714-F83E-42AA-9154-418F680432FC}"/>
              </a:ext>
            </a:extLst>
          </p:cNvPr>
          <p:cNvSpPr>
            <a:spLocks xmlns:a="http://schemas.openxmlformats.org/drawingml/2006/main" noGrp="1"/>
          </p:cNvSpPr>
          <p:nvPr/>
        </p:nvSpPr>
        <p:spPr>
          <a:xfrm xmlns:a="http://schemas.openxmlformats.org/drawingml/2006/main">
            <a:off x="1562100" y="339090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Use attendance during a real class</a:t>
            </a:r>
          </a:p>
        </p:txBody>
      </p:sp>
      <p:sp>
        <p:nvSpPr>
          <p:cNvPr id="10" name="">
            <a:extLst xmlns:a="http://schemas.openxmlformats.org/drawingml/2006/main">
              <a:ext uri="{FF2B5EF4-FFF2-40B4-BE49-F238E27FC236}">
                <a16:creationId xmlns:a16="http://schemas.microsoft.com/office/drawing/2014/main" id="{AC594613-545D-4E02-B649-D6E50D2B8FC4}"/>
              </a:ext>
            </a:extLst>
          </p:cNvPr>
          <p:cNvSpPr>
            <a:spLocks xmlns:a="http://schemas.openxmlformats.org/drawingml/2006/main" noGrp="1"/>
          </p:cNvSpPr>
          <p:nvPr/>
        </p:nvSpPr>
        <p:spPr>
          <a:xfrm xmlns:a="http://schemas.openxmlformats.org/drawingml/2006/main">
            <a:off x="1562100" y="381000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Note any problems that appear while the class is in progress.</a:t>
            </a:r>
          </a:p>
        </p:txBody>
      </p:sp>
      <p:sp>
        <p:nvSpPr>
          <p:cNvPr id="11" name="">
            <a:extLst xmlns:a="http://schemas.openxmlformats.org/drawingml/2006/main">
              <a:ext uri="{FF2B5EF4-FFF2-40B4-BE49-F238E27FC236}">
                <a16:creationId xmlns:a16="http://schemas.microsoft.com/office/drawing/2014/main" id="{F763C4A3-D908-4427-92A9-214E2AF9A01C}"/>
              </a:ext>
            </a:extLst>
          </p:cNvPr>
          <p:cNvSpPr>
            <a:spLocks xmlns:a="http://schemas.openxmlformats.org/drawingml/2006/main" noGrp="1"/>
          </p:cNvSpPr>
          <p:nvPr/>
        </p:nvSpPr>
        <p:spPr>
          <a:xfrm xmlns:a="http://schemas.openxmlformats.org/drawingml/2006/main">
            <a:off x="838200" y="4419600"/>
            <a:ext cx="9906000" cy="0"/>
          </a:xfrm>
          <a:prstGeom xmlns:a="http://schemas.openxmlformats.org/drawingml/2006/main" prst="line">
            <a:avLst/>
          </a:prstGeom>
          <a:noFill xmlns:a="http://schemas.openxmlformats.org/drawingml/2006/main"/>
          <a:ln xmlns:a="http://schemas.openxmlformats.org/drawingml/2006/main" w="9525">
            <a:solidFill>
              <a:srgbClr val="CBD5E1"/>
            </a:solidFill>
          </a:ln>
        </p:spPr>
      </p:sp>
      <p:sp>
        <p:nvSpPr>
          <p:cNvPr id="12" name="">
            <a:extLst xmlns:a="http://schemas.openxmlformats.org/drawingml/2006/main">
              <a:ext uri="{FF2B5EF4-FFF2-40B4-BE49-F238E27FC236}">
                <a16:creationId xmlns:a16="http://schemas.microsoft.com/office/drawing/2014/main" id="{296C57F7-58A1-4BD8-B6D7-F27BEF3851CD}"/>
              </a:ext>
            </a:extLst>
          </p:cNvPr>
          <p:cNvSpPr>
            <a:spLocks xmlns:a="http://schemas.openxmlformats.org/drawingml/2006/main" noGrp="1"/>
          </p:cNvSpPr>
          <p:nvPr/>
        </p:nvSpPr>
        <p:spPr>
          <a:xfrm xmlns:a="http://schemas.openxmlformats.org/drawingml/2006/main">
            <a:off x="838200" y="47625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a:solidFill>
                  <a:srgbClr val="16A34A"/>
                </a:solidFill>
                <a:latin typeface="Helvetica Neue"/>
                <a:ea typeface="Helvetica Neue"/>
                <a:cs typeface="Helvetica Neue"/>
              </a:defRPr>
            </a:pPr>
            <a:r>
              <a:rPr sz="2850" b="1">
                <a:solidFill>
                  <a:srgbClr val="16A34A"/>
                </a:solidFill>
                <a:latin typeface="Helvetica Neue"/>
                <a:ea typeface="Helvetica Neue"/>
                <a:cs typeface="Helvetica Neue"/>
              </a:rPr>
              <a:t>3</a:t>
            </a:r>
          </a:p>
        </p:txBody>
      </p:sp>
      <p:sp>
        <p:nvSpPr>
          <p:cNvPr id="13" name="">
            <a:extLst xmlns:a="http://schemas.openxmlformats.org/drawingml/2006/main">
              <a:ext uri="{FF2B5EF4-FFF2-40B4-BE49-F238E27FC236}">
                <a16:creationId xmlns:a16="http://schemas.microsoft.com/office/drawing/2014/main" id="{266D5FDD-3339-455B-B06A-063F3845F3EF}"/>
              </a:ext>
            </a:extLst>
          </p:cNvPr>
          <p:cNvSpPr>
            <a:spLocks xmlns:a="http://schemas.openxmlformats.org/drawingml/2006/main" noGrp="1"/>
          </p:cNvSpPr>
          <p:nvPr/>
        </p:nvSpPr>
        <p:spPr>
          <a:xfrm xmlns:a="http://schemas.openxmlformats.org/drawingml/2006/main">
            <a:off x="1562100" y="47815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F172A"/>
                </a:solidFill>
                <a:latin typeface="Helvetica Neue"/>
                <a:ea typeface="Helvetica Neue"/>
                <a:cs typeface="Helvetica Neue"/>
              </a:defRPr>
            </a:pPr>
            <a:r>
              <a:rPr sz="1875" b="1">
                <a:solidFill>
                  <a:srgbClr val="0F172A"/>
                </a:solidFill>
                <a:latin typeface="Helvetica Neue"/>
                <a:ea typeface="Helvetica Neue"/>
                <a:cs typeface="Helvetica Neue"/>
              </a:rPr>
              <a:t>Review the report together</a:t>
            </a:r>
          </a:p>
        </p:txBody>
      </p:sp>
      <p:sp>
        <p:nvSpPr>
          <p:cNvPr id="14" name="">
            <a:extLst xmlns:a="http://schemas.openxmlformats.org/drawingml/2006/main">
              <a:ext uri="{FF2B5EF4-FFF2-40B4-BE49-F238E27FC236}">
                <a16:creationId xmlns:a16="http://schemas.microsoft.com/office/drawing/2014/main" id="{1AD4FC8E-0287-434A-AAC9-6C83234DB66F}"/>
              </a:ext>
            </a:extLst>
          </p:cNvPr>
          <p:cNvSpPr>
            <a:spLocks xmlns:a="http://schemas.openxmlformats.org/drawingml/2006/main" noGrp="1"/>
          </p:cNvSpPr>
          <p:nvPr/>
        </p:nvSpPr>
        <p:spPr>
          <a:xfrm xmlns:a="http://schemas.openxmlformats.org/drawingml/2006/main">
            <a:off x="1562100" y="5200650"/>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4748B"/>
                </a:solidFill>
                <a:latin typeface="Helvetica Neue"/>
                <a:ea typeface="Helvetica Neue"/>
                <a:cs typeface="Helvetica Neue"/>
              </a:defRPr>
            </a:pPr>
            <a:r>
              <a:rPr sz="1350" b="0">
                <a:solidFill>
                  <a:srgbClr val="64748B"/>
                </a:solidFill>
                <a:latin typeface="Helvetica Neue"/>
                <a:ea typeface="Helvetica Neue"/>
                <a:cs typeface="Helvetica Neue"/>
              </a:rPr>
              <a:t>Agree on workflow changes before expanding usage.</a:t>
            </a:r>
          </a:p>
        </p:txBody>
      </p:sp>
      <p:sp>
        <p:nvSpPr>
          <p:cNvPr id="15" name="">
            <a:extLst xmlns:a="http://schemas.openxmlformats.org/drawingml/2006/main">
              <a:ext uri="{FF2B5EF4-FFF2-40B4-BE49-F238E27FC236}">
                <a16:creationId xmlns:a16="http://schemas.microsoft.com/office/drawing/2014/main" id="{5232C193-6D5D-4EEF-BB7E-3128483C6367}"/>
              </a:ext>
            </a:extLst>
          </p:cNvPr>
          <p:cNvSpPr>
            <a:spLocks xmlns:a="http://schemas.openxmlformats.org/drawingml/2006/main" noGrp="1"/>
          </p:cNvSpPr>
          <p:nvPr/>
        </p:nvSpPr>
        <p:spPr>
          <a:xfrm xmlns:a="http://schemas.openxmlformats.org/drawingml/2006/main">
            <a:off x="8934450" y="1924050"/>
            <a:ext cx="1809750" cy="3619500"/>
          </a:xfrm>
          <a:prstGeom xmlns:a="http://schemas.openxmlformats.org/drawingml/2006/main" prst="rect">
            <a:avLst/>
          </a:prstGeom>
          <a:solidFill xmlns:a="http://schemas.openxmlformats.org/drawingml/2006/main">
            <a:srgbClr val="5755D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8077D69-9724-41C8-948C-ED84BD8AB79B}"/>
              </a:ext>
            </a:extLst>
          </p:cNvPr>
          <p:cNvSpPr>
            <a:spLocks xmlns:a="http://schemas.openxmlformats.org/drawingml/2006/main" noGrp="1"/>
          </p:cNvSpPr>
          <p:nvPr/>
        </p:nvSpPr>
        <p:spPr>
          <a:xfrm xmlns:a="http://schemas.openxmlformats.org/drawingml/2006/main">
            <a:off x="9220200" y="2286000"/>
            <a:ext cx="125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Discussion</a:t>
            </a:r>
          </a:p>
        </p:txBody>
      </p:sp>
      <p:sp>
        <p:nvSpPr>
          <p:cNvPr id="17" name="">
            <a:extLst xmlns:a="http://schemas.openxmlformats.org/drawingml/2006/main">
              <a:ext uri="{FF2B5EF4-FFF2-40B4-BE49-F238E27FC236}">
                <a16:creationId xmlns:a16="http://schemas.microsoft.com/office/drawing/2014/main" id="{DCFE64B3-ED9C-4C98-BD33-BAEEA5083CD0}"/>
              </a:ext>
            </a:extLst>
          </p:cNvPr>
          <p:cNvSpPr>
            <a:spLocks xmlns:a="http://schemas.openxmlformats.org/drawingml/2006/main" noGrp="1"/>
          </p:cNvSpPr>
          <p:nvPr/>
        </p:nvSpPr>
        <p:spPr>
          <a:xfrm xmlns:a="http://schemas.openxmlformats.org/drawingml/2006/main">
            <a:off x="9182100" y="2952750"/>
            <a:ext cx="1333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Is the workflow clear?</a:t>
            </a:r>
          </a:p>
          <a:p xmlns:a="http://schemas.openxmlformats.org/drawingml/2006/main">
            <a:r>
              <a:t/>
            </a:r>
          </a:p>
          <a:p xmlns:a="http://schemas.openxmlformats.org/drawingml/2006/main">
            <a:pPr algn="ct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What causes delays?</a:t>
            </a:r>
          </a:p>
          <a:p xmlns:a="http://schemas.openxmlformats.org/drawingml/2006/main">
            <a:r>
              <a:t/>
            </a:r>
          </a:p>
          <a:p xmlns:a="http://schemas.openxmlformats.org/drawingml/2006/main">
            <a:pPr algn="ct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Which reports matter most?</a:t>
            </a:r>
          </a:p>
        </p:txBody>
      </p:sp>
      <p:sp>
        <p:nvSpPr>
          <p:cNvPr id="18" name="">
            <a:extLst xmlns:a="http://schemas.openxmlformats.org/drawingml/2006/main">
              <a:ext uri="{FF2B5EF4-FFF2-40B4-BE49-F238E27FC236}">
                <a16:creationId xmlns:a16="http://schemas.microsoft.com/office/drawing/2014/main" id="{6F652DA0-54D4-4B56-990C-A472A0205685}"/>
              </a:ext>
            </a:extLst>
          </p:cNvPr>
          <p:cNvSpPr>
            <a:spLocks xmlns:a="http://schemas.openxmlformats.org/drawingml/2006/main" noGrp="1"/>
          </p:cNvSpPr>
          <p:nvPr/>
        </p:nvSpPr>
        <p:spPr>
          <a:xfrm xmlns:a="http://schemas.openxmlformats.org/drawingml/2006/main">
            <a:off x="685800" y="6457950"/>
            <a:ext cx="3619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1">
                <a:solidFill>
                  <a:srgbClr val="64748B"/>
                </a:solidFill>
                <a:latin typeface="Helvetica Neue"/>
                <a:ea typeface="Helvetica Neue"/>
                <a:cs typeface="Helvetica Neue"/>
              </a:defRPr>
            </a:pPr>
            <a:r>
              <a:rPr sz="825" b="1">
                <a:solidFill>
                  <a:srgbClr val="64748B"/>
                </a:solidFill>
                <a:latin typeface="Helvetica Neue"/>
                <a:ea typeface="Helvetica Neue"/>
                <a:cs typeface="Helvetica Neue"/>
              </a:rPr>
              <a:t>SCHOOL ADMINISTRATION PLATFORM</a:t>
            </a:r>
          </a:p>
        </p:txBody>
      </p:sp>
      <p:sp>
        <p:nvSpPr>
          <p:cNvPr id="19" name="">
            <a:extLst xmlns:a="http://schemas.openxmlformats.org/drawingml/2006/main">
              <a:ext uri="{FF2B5EF4-FFF2-40B4-BE49-F238E27FC236}">
                <a16:creationId xmlns:a16="http://schemas.microsoft.com/office/drawing/2014/main" id="{4F96D8FF-3BA2-4C45-BA6F-8BF54DAB95EF}"/>
              </a:ext>
            </a:extLst>
          </p:cNvPr>
          <p:cNvSpPr>
            <a:spLocks xmlns:a="http://schemas.openxmlformats.org/drawingml/2006/main" noGrp="1"/>
          </p:cNvSpPr>
          <p:nvPr/>
        </p:nvSpPr>
        <p:spPr>
          <a:xfrm xmlns:a="http://schemas.openxmlformats.org/drawingml/2006/main">
            <a:off x="10972800" y="64389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13</a:t>
            </a:r>
          </a:p>
        </p:txBody>
      </p:sp>
    </p:spTree>
    <p:extLst>
      <p:ext uri="{BB962C8B-B14F-4D97-AF65-F5344CB8AC3E}">
        <p14:creationId xmlns:p14="http://schemas.microsoft.com/office/powerpoint/2010/main" val="1497245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2026-09-05T02:48:27.1770000Z</dcterms:created>
  <dcterms:modified xsi:type="dcterms:W3CDTF">2026-09-05T02:48:27.1770000Z</dcterms:modified>
</coreProperties>
</file>